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b45568b9604155" /><Relationship Type="http://schemas.openxmlformats.org/officeDocument/2006/relationships/extended-properties" Target="/docProps/app.xml" Id="R9fadd6f1f0bf4f39" /><Relationship Type="http://schemas.openxmlformats.org/officeDocument/2006/relationships/officeDocument" Target="/ppt/presentation.xml" Id="Rcc771262cc3049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574e2bf96e4e60"/>
  </p:sldMasterIdLst>
  <p:notesMasterIdLst>
    <p:notesMasterId xmlns:r="http://schemas.openxmlformats.org/officeDocument/2006/relationships" r:id="Rbbae28e9e6b34ece"/>
  </p:notesMasterIdLst>
  <p:sldIdLst>
    <p:sldId xmlns:r="http://schemas.openxmlformats.org/officeDocument/2006/relationships" id="256" r:id="Rfaeb1203d2f749e2"/>
    <p:sldId xmlns:r="http://schemas.openxmlformats.org/officeDocument/2006/relationships" id="257" r:id="R055dfba1e8bc458b"/>
    <p:sldId xmlns:r="http://schemas.openxmlformats.org/officeDocument/2006/relationships" id="258" r:id="Raf9f502005764c38"/>
    <p:sldId xmlns:r="http://schemas.openxmlformats.org/officeDocument/2006/relationships" id="259" r:id="Rf7767a7ec90d4c0f"/>
    <p:sldId xmlns:r="http://schemas.openxmlformats.org/officeDocument/2006/relationships" id="260" r:id="R36928480f64141e5"/>
    <p:sldId xmlns:r="http://schemas.openxmlformats.org/officeDocument/2006/relationships" id="261" r:id="Rba141e3585674eb9"/>
    <p:sldId xmlns:r="http://schemas.openxmlformats.org/officeDocument/2006/relationships" id="262" r:id="Rdc4059a52f994eac"/>
    <p:sldId xmlns:r="http://schemas.openxmlformats.org/officeDocument/2006/relationships" id="263" r:id="R5aad7deb0f6343b9"/>
    <p:sldId xmlns:r="http://schemas.openxmlformats.org/officeDocument/2006/relationships" id="264" r:id="R2f6cb02b16fb44ef"/>
    <p:sldId xmlns:r="http://schemas.openxmlformats.org/officeDocument/2006/relationships" id="265" r:id="R3fd9904c0a58456f"/>
    <p:sldId xmlns:r="http://schemas.openxmlformats.org/officeDocument/2006/relationships" id="266" r:id="Racfe3d1d9c684f71"/>
    <p:sldId xmlns:r="http://schemas.openxmlformats.org/officeDocument/2006/relationships" id="267" r:id="R2dea61f140db4a2e"/>
    <p:sldId xmlns:r="http://schemas.openxmlformats.org/officeDocument/2006/relationships" id="268" r:id="R26b961f220d24e8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ff611acc744e97" /><Relationship Type="http://schemas.openxmlformats.org/officeDocument/2006/relationships/slideMaster" Target="/ppt/slideMasters/slideMaster1.xml" Id="R18574e2bf96e4e60" /><Relationship Type="http://schemas.openxmlformats.org/officeDocument/2006/relationships/notesMaster" Target="/ppt/notesMasters/notesMaster1.xml" Id="Rbbae28e9e6b34ece" /><Relationship Type="http://schemas.openxmlformats.org/officeDocument/2006/relationships/presProps" Target="/ppt/presProps.xml" Id="Rce25772eb2db45ea" /><Relationship Type="http://schemas.openxmlformats.org/officeDocument/2006/relationships/tableStyles" Target="/ppt/tableStyles.xml" Id="Rebb3f9d8dad04d2a" /><Relationship Type="http://schemas.openxmlformats.org/officeDocument/2006/relationships/slide" Target="/ppt/slides/slide1.xml" Id="Rfaeb1203d2f749e2" /><Relationship Type="http://schemas.openxmlformats.org/officeDocument/2006/relationships/slide" Target="/ppt/slides/slide2.xml" Id="R055dfba1e8bc458b" /><Relationship Type="http://schemas.openxmlformats.org/officeDocument/2006/relationships/slide" Target="/ppt/slides/slide3.xml" Id="Raf9f502005764c38" /><Relationship Type="http://schemas.openxmlformats.org/officeDocument/2006/relationships/slide" Target="/ppt/slides/slide4.xml" Id="Rf7767a7ec90d4c0f" /><Relationship Type="http://schemas.openxmlformats.org/officeDocument/2006/relationships/slide" Target="/ppt/slides/slide5.xml" Id="R36928480f64141e5" /><Relationship Type="http://schemas.openxmlformats.org/officeDocument/2006/relationships/slide" Target="/ppt/slides/slide6.xml" Id="Rba141e3585674eb9" /><Relationship Type="http://schemas.openxmlformats.org/officeDocument/2006/relationships/slide" Target="/ppt/slides/slide7.xml" Id="Rdc4059a52f994eac" /><Relationship Type="http://schemas.openxmlformats.org/officeDocument/2006/relationships/slide" Target="/ppt/slides/slide8.xml" Id="R5aad7deb0f6343b9" /><Relationship Type="http://schemas.openxmlformats.org/officeDocument/2006/relationships/slide" Target="/ppt/slides/slide9.xml" Id="R2f6cb02b16fb44ef" /><Relationship Type="http://schemas.openxmlformats.org/officeDocument/2006/relationships/slide" Target="/ppt/slides/slide10.xml" Id="R3fd9904c0a58456f" /><Relationship Type="http://schemas.openxmlformats.org/officeDocument/2006/relationships/slide" Target="/ppt/slides/slide11.xml" Id="Racfe3d1d9c684f71" /><Relationship Type="http://schemas.openxmlformats.org/officeDocument/2006/relationships/slide" Target="/ppt/slides/slide12.xml" Id="R2dea61f140db4a2e" /><Relationship Type="http://schemas.openxmlformats.org/officeDocument/2006/relationships/slide" Target="/ppt/slides/slide13.xml" Id="R26b961f220d24e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88ed66b2da4f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19baa394ca42d8" /><Relationship Type="http://schemas.openxmlformats.org/officeDocument/2006/relationships/notesMaster" Target="/ppt/notesMasters/notesMaster1.xml" Id="Recbfae1f8e9e43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34134946b54355" /><Relationship Type="http://schemas.openxmlformats.org/officeDocument/2006/relationships/notesMaster" Target="/ppt/notesMasters/notesMaster1.xml" Id="R4160db111cb746c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8a20ed21d94921" /><Relationship Type="http://schemas.openxmlformats.org/officeDocument/2006/relationships/notesMaster" Target="/ppt/notesMasters/notesMaster1.xml" Id="Rcf6e25b9d08d4a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5cea9e133634c99" /><Relationship Type="http://schemas.openxmlformats.org/officeDocument/2006/relationships/notesMaster" Target="/ppt/notesMasters/notesMaster1.xml" Id="R2992eddbbcc44b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96ed752f0a4a15" /><Relationship Type="http://schemas.openxmlformats.org/officeDocument/2006/relationships/notesMaster" Target="/ppt/notesMasters/notesMaster1.xml" Id="R5ef36e5da99f4e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3341b7920d4d59" /><Relationship Type="http://schemas.openxmlformats.org/officeDocument/2006/relationships/notesMaster" Target="/ppt/notesMasters/notesMaster1.xml" Id="R94270436bbbc4c5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4559a6b06643d2" /><Relationship Type="http://schemas.openxmlformats.org/officeDocument/2006/relationships/notesMaster" Target="/ppt/notesMasters/notesMaster1.xml" Id="R8fe73f25d12041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5c474f1e6f44a86" /><Relationship Type="http://schemas.openxmlformats.org/officeDocument/2006/relationships/notesMaster" Target="/ppt/notesMasters/notesMaster1.xml" Id="R50d125ce82a741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05ac4249bd4e14" /><Relationship Type="http://schemas.openxmlformats.org/officeDocument/2006/relationships/notesMaster" Target="/ppt/notesMasters/notesMaster1.xml" Id="Rf3e923d284c441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76dcf84db64847" /><Relationship Type="http://schemas.openxmlformats.org/officeDocument/2006/relationships/notesMaster" Target="/ppt/notesMasters/notesMaster1.xml" Id="Rea614695698d4ac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f2ea4f85d134fa5" /><Relationship Type="http://schemas.openxmlformats.org/officeDocument/2006/relationships/notesMaster" Target="/ppt/notesMasters/notesMaster1.xml" Id="R2dddababc3d44e4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3addb966554077" /><Relationship Type="http://schemas.openxmlformats.org/officeDocument/2006/relationships/notesMaster" Target="/ppt/notesMasters/notesMaster1.xml" Id="Rf1ca86a838af4d5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4b34c317c104678" /><Relationship Type="http://schemas.openxmlformats.org/officeDocument/2006/relationships/notesMaster" Target="/ppt/notesMasters/notesMaster1.xml" Id="Rcd098113d66445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f4ccafc24c46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30d83ed7def4355" /><Relationship Type="http://schemas.openxmlformats.org/officeDocument/2006/relationships/slideLayout" Target="/ppt/slideLayouts/slideLayout1.xml" Id="Raed3d7f06aeb4b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d3d7f06aeb4b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0b07a172a49c0" /><Relationship Type="http://schemas.openxmlformats.org/officeDocument/2006/relationships/notesSlide" Target="/ppt/notesSlides/notesSlide1.xml" Id="R65aea42eecde45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fc1b101a14dad" /><Relationship Type="http://schemas.openxmlformats.org/officeDocument/2006/relationships/notesSlide" Target="/ppt/notesSlides/notesSlide2.xml" Id="R25b9869ded7c4d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f1138ee4434f7e" /><Relationship Type="http://schemas.openxmlformats.org/officeDocument/2006/relationships/notesSlide" Target="/ppt/notesSlides/notesSlide3.xml" Id="R90316b0d58054d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f0747a672e4b3d" /><Relationship Type="http://schemas.openxmlformats.org/officeDocument/2006/relationships/notesSlide" Target="/ppt/notesSlides/notesSlide4.xml" Id="Rf67c8a8ddb8842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80fac161f43c3" /><Relationship Type="http://schemas.openxmlformats.org/officeDocument/2006/relationships/notesSlide" Target="/ppt/notesSlides/notesSlide5.xml" Id="R4383e4636b0840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fb5a6674347b2" /><Relationship Type="http://schemas.openxmlformats.org/officeDocument/2006/relationships/notesSlide" Target="/ppt/notesSlides/notesSlide6.xml" Id="Rd5c4e78b32684c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46d74fba754c82" /><Relationship Type="http://schemas.openxmlformats.org/officeDocument/2006/relationships/notesSlide" Target="/ppt/notesSlides/notesSlide7.xml" Id="Rb23d85f498f04cf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e17b07c214000" /><Relationship Type="http://schemas.openxmlformats.org/officeDocument/2006/relationships/notesSlide" Target="/ppt/notesSlides/notesSlide8.xml" Id="R850b04815da54b0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a21670399a4fd0" /><Relationship Type="http://schemas.openxmlformats.org/officeDocument/2006/relationships/notesSlide" Target="/ppt/notesSlides/notesSlide9.xml" Id="Rc4cd7a6ac882448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6e218153242e0" /><Relationship Type="http://schemas.openxmlformats.org/officeDocument/2006/relationships/notesSlide" Target="/ppt/notesSlides/notesSlide10.xml" Id="R59f3fc4d35cb429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e9c16e84704c46" /><Relationship Type="http://schemas.openxmlformats.org/officeDocument/2006/relationships/notesSlide" Target="/ppt/notesSlides/notesSlide11.xml" Id="Ra65ad524dfff42d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72288bacb4521" /><Relationship Type="http://schemas.openxmlformats.org/officeDocument/2006/relationships/notesSlide" Target="/ppt/notesSlides/notesSlide12.xml" Id="R35b9a5ad7769463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a8cabe0ac2414d" /><Relationship Type="http://schemas.openxmlformats.org/officeDocument/2006/relationships/notesSlide" Target="/ppt/notesSlides/notesSlide13.xml" Id="Rcdca66b895474a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EE62D4-9CC8-429C-BB1A-DE41D664B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74B5"/>
                </a:solidFill>
              </a:defRPr>
            </a:pPr>
            <a:r>
              <a:rPr sz="1350" b="1">
                <a:solidFill>
                  <a:srgbClr val="2E74B5"/>
                </a:solidFill>
              </a:rPr>
              <a:t>ARCHITECTURE DECISION PROPOSAL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FFA18-70EE-4035-A261-D9CAC376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9334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00000"/>
                </a:solidFill>
              </a:defRPr>
            </a:pPr>
            <a:r>
              <a:rPr sz="4650" b="1">
                <a:solidFill>
                  <a:srgbClr val="000000"/>
                </a:solidFill>
              </a:rPr>
              <a:t>AFH AI Platform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765401-ECAE-4145-936F-45FFD834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866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202833"/>
                </a:solidFill>
              </a:defRPr>
            </a:pPr>
            <a:r>
              <a:rPr sz="2025" b="0">
                <a:solidFill>
                  <a:srgbClr val="202833"/>
                </a:solidFill>
              </a:rPr>
              <a:t>A governed MCP Gateway with service-owned AI tools, workflow services, and SDK-backed platform primitives.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855D5-7FEA-455B-92C2-73C0DCD7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48200"/>
            <a:ext cx="7810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833"/>
                </a:solidFill>
              </a:defRPr>
            </a:pPr>
            <a:r>
              <a:rPr sz="1725" b="1">
                <a:solidFill>
                  <a:srgbClr val="202833"/>
                </a:solidFill>
              </a:rPr>
              <a:t>Recommendation: Gateway as protocol and policy boundary. Services keep business logic.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74563-097B-47E7-BCB4-7A5C0F6D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Prepared for senior engineering and architecture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043E8E-0F18-4EF3-B453-40E2803D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C54CB2-F0B2-49B6-9F13-890591CC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602335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BEEA0F-D293-4EA6-A131-1A2B27F2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RECOMMENDATION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EA8725-6255-495D-B266-382CC334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Use a central MCP Gateway, but keep capability ownership in the services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570D83-73C6-4695-ABB8-CD16610F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A8EAD6-15BF-4C85-B38C-3BE2AA4D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63D5C"/>
                </a:solidFill>
              </a:defRPr>
            </a:pPr>
            <a:r>
              <a:rPr sz="2100" b="1">
                <a:solidFill>
                  <a:srgbClr val="163D5C"/>
                </a:solidFill>
              </a:rPr>
              <a:t>Adopt Option B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39950-A740-4245-A0D0-05754D49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3835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02833"/>
                </a:solidFill>
              </a:defRPr>
            </a:pPr>
            <a:r>
              <a:rPr sz="1950" b="0">
                <a:solidFill>
                  <a:srgbClr val="202833"/>
                </a:solidFill>
              </a:rPr>
              <a:t>AI clients connect to one governed entry point. The gateway discovers tools and routes to existing service APIs.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E6503D-A664-4CD4-93FD-2DAF3B1D0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63D5C"/>
                </a:solidFill>
              </a:defRPr>
            </a:pPr>
            <a:r>
              <a:rPr sz="2100" b="1">
                <a:solidFill>
                  <a:srgbClr val="163D5C"/>
                </a:solidFill>
              </a:rPr>
              <a:t>Evolve toward Option 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3D3244-D6B4-45B3-B3CE-FD081DF8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9090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02833"/>
                </a:solidFill>
              </a:defRPr>
            </a:pPr>
            <a:r>
              <a:rPr sz="1950" b="0">
                <a:solidFill>
                  <a:srgbClr val="202833"/>
                </a:solidFill>
              </a:rPr>
              <a:t>Long-running or stateful workflows move into dedicated services such as DevOps Integration or Document Intelligence.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6DA88-5528-4396-9E78-107193B5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815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FE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6B35"/>
                </a:solidFill>
              </a:defRPr>
            </a:pPr>
            <a:r>
              <a:rPr sz="1875" b="1">
                <a:solidFill>
                  <a:srgbClr val="FF6B35"/>
                </a:solidFill>
              </a:rPr>
              <a:t>Do not put domain logic in the gateway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C8F4C-4840-48A9-9F18-D199357C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74345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02833"/>
                </a:solidFill>
              </a:defRPr>
            </a:pPr>
            <a:r>
              <a:rPr sz="1950" b="0">
                <a:solidFill>
                  <a:srgbClr val="202833"/>
                </a:solidFill>
              </a:rPr>
              <a:t>Booking, Calendar, Notification, Location, Adviser, Identity, ACS, Client, DevOps, and SharePoint remain owners of their own rules.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0A1F32-D8D3-4CF4-8B34-66C89F70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E902D9-7886-4CCC-96FB-FC00B4228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866024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628ACD-18E1-42DC-B082-171214B7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CURRENT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9C0FDD-C912-4579-9243-DC80C9E9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solution already has service boundaries and shared SDKs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0C5CBC-CA37-4E2B-A348-2264E75E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F4E03-14AE-4792-A7BF-7A855715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238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Booking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48425D-38D4-4947-B411-210CEA0B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availability, holds, lifecycle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9F3001-7CA3-4813-84FB-CBC27DEA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14550"/>
            <a:ext cx="238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Calendar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D7DAC6-5D6F-49E9-8254-D21A8CDF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72415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Graph schedules and webhooks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95F841-6084-4B43-8D51-34D8DEDD0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14550"/>
            <a:ext cx="238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Notification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27A033-0489-4DE2-8FC7-2142F7634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2415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templates, dispatch, retries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C90597-8A8C-4398-8420-F330FFB3D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14550"/>
            <a:ext cx="238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Location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01244-7B22-46B7-A388-DE72470D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2415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route time and coverage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9E4573-7A9C-4DB4-B834-5811BAD6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86150"/>
            <a:ext cx="238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Adviser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356ED-5283-4509-83D0-13658946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profiles and availability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1FB410-9112-4FA3-A793-F3C1CF54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86150"/>
            <a:ext cx="238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Identity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FFFAB5-F1F9-4A9D-A990-79A75642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09575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roles and permissions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B50888-1D55-48E5-A395-80BDB3B9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86150"/>
            <a:ext cx="238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ACS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AF7A1C-8F72-4D20-AD98-AB418C5A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9575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meetings and transcriptions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3799C4-CA00-44E0-8C5D-37A0FB7E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86150"/>
            <a:ext cx="2381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Client Integration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6439D3-8840-490B-B6D3-B33F913E2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9575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XPlan and Snowflake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E85FF4-D8CC-4B45-A3AE-D1AB4A61D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48250"/>
            <a:ext cx="952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3D5C"/>
                </a:solidFill>
              </a:defRPr>
            </a:pPr>
            <a:r>
              <a:rPr sz="1800" b="1">
                <a:solidFill>
                  <a:srgbClr val="163D5C"/>
                </a:solidFill>
              </a:rPr>
              <a:t>Shared SDKs: error, calendar, SharePoint, XPlan, Speech AI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C8673A-CFF5-4572-8E7D-845F15BA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2A1C1F-B8A1-47FD-8433-F408BE84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719346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76BF9B-86E5-41EC-B434-01FEBB10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ED0DD-7646-4A35-8219-88886CC1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Direct AI access would duplicate governance and expose too much topology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1B0FB-980C-4461-BC49-9DC82BDC2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7E60E5-F383-4FF1-B29C-4EEFD7C6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2407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E74B5"/>
                </a:solidFill>
              </a:defRPr>
            </a:pPr>
            <a:r>
              <a:rPr sz="1875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84516-A250-4992-AC84-EDB88854E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14550"/>
            <a:ext cx="9963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02833"/>
                </a:solidFill>
              </a:defRPr>
            </a:pPr>
            <a:r>
              <a:rPr sz="1875" b="0">
                <a:solidFill>
                  <a:srgbClr val="202833"/>
                </a:solidFill>
              </a:rPr>
              <a:t>Every AI client would need to understand every AFH service, endpoint, permission model, and versioning rule.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C6EAAC-0589-48AF-B1E3-56D116A0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4797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E74B5"/>
                </a:solidFill>
              </a:defRPr>
            </a:pPr>
            <a:r>
              <a:rPr sz="1875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F5F9DC-23A0-4409-99D3-9F2FB3CE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38450"/>
            <a:ext cx="9963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02833"/>
                </a:solidFill>
              </a:defRPr>
            </a:pPr>
            <a:r>
              <a:rPr sz="1875" b="0">
                <a:solidFill>
                  <a:srgbClr val="202833"/>
                </a:solidFill>
              </a:rPr>
              <a:t>Authentication, authorization, audit, redaction, throttling, and approvals would be rebuilt in many places.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091F70-A6EE-4245-82B6-1F36CE55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7187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E74B5"/>
                </a:solidFill>
              </a:defRPr>
            </a:pPr>
            <a:r>
              <a:rPr sz="1875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565BB6-3FF8-4660-8050-926DB391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62350"/>
            <a:ext cx="9963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02833"/>
                </a:solidFill>
              </a:defRPr>
            </a:pPr>
            <a:r>
              <a:rPr sz="1875" b="0">
                <a:solidFill>
                  <a:srgbClr val="202833"/>
                </a:solidFill>
              </a:rPr>
              <a:t>DevOps automation and SharePoint requirement analysis have no natural home in the existing domain services.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D1B50-C0D0-4C04-AB35-BD515D51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9577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E74B5"/>
                </a:solidFill>
              </a:defRPr>
            </a:pPr>
            <a:r>
              <a:rPr sz="1875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C676DE-8198-41AC-98C7-1496150F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86250"/>
            <a:ext cx="9963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02833"/>
                </a:solidFill>
              </a:defRPr>
            </a:pPr>
            <a:r>
              <a:rPr sz="1875" b="0">
                <a:solidFill>
                  <a:srgbClr val="202833"/>
                </a:solidFill>
              </a:rPr>
              <a:t>As service count grows, manual tool registration becomes slow, fragile, and easy to drift.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485C04-23C4-4B37-96AC-2BA2501D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392C8-9E8F-4485-88D7-0BCCDDB9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169405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91BB66-C30E-486D-980A-9EB13BC3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OPTIONS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3D5AA-21A2-40C3-AE50-34FDAA65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Three patterns were considered before recommending the gateway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CA587-16E3-49D5-9973-84192BCA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B03131-E376-4E1F-81C3-435D5699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Option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EA42E3-499D-4150-AE04-D881DF5C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095500"/>
            <a:ext cx="400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Strength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39847B-5FBD-468F-BEEB-232E4621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95500"/>
            <a:ext cx="400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A482D2-E11D-4C86-ADEB-D0EA549D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52700"/>
            <a:ext cx="3143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Direct MCP providers in every service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131253-F4D5-4E0A-B5F3-F3F3BCE0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4000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Maximum service autonomy.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2DA317-DD9A-4131-9637-6FD9A17C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52700"/>
            <a:ext cx="4000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Duplicated policy and fragmented discovery.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13F30-4961-4437-8BF5-DEDE7F53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3143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Central MCP Gateway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789E24-51AD-42DB-B1DE-2AB24AA3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619500"/>
            <a:ext cx="4000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One governed AI entry point with service-owned tools.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85853C-E274-4784-8883-A394EB07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619500"/>
            <a:ext cx="4000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Can become a bottleneck if boundaries are weak.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11497A-AC8E-42E2-95D0-4CF0D13A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86300"/>
            <a:ext cx="3143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Gateway plus workflow services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68093C-7D13-47CD-8709-A2682C3D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686300"/>
            <a:ext cx="4000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Best long-term fit for durable workflows.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2C7FED-C18C-4C13-B524-D0770393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86300"/>
            <a:ext cx="4000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More moving parts and stronger contracts required.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A2E4BB-7176-4E37-AD80-BDF56524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72150"/>
            <a:ext cx="9753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3D5C"/>
                </a:solidFill>
              </a:defRPr>
            </a:pPr>
            <a:r>
              <a:rPr sz="1800" b="1">
                <a:solidFill>
                  <a:srgbClr val="163D5C"/>
                </a:solidFill>
              </a:rPr>
              <a:t>Recommended path: Option B now, designed to evolve into Option C.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AC9B43-93D6-4A4D-BA92-97400918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76B305-05B7-477E-9A64-0E7B2E9B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270692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B3E6F9-8990-47B9-A404-417F26A0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TARGET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CEB5C6-CEE2-418A-BD84-0A2B64D4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gateway exposes tools; services execute capabilities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E7D01C-E8E5-469F-870C-178A2468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0D2209-C3AA-47B7-BF41-0C368EEF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E74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02833"/>
                </a:solidFill>
              </a:defRPr>
            </a:pPr>
            <a:r>
              <a:rPr sz="1500" b="1">
                <a:solidFill>
                  <a:srgbClr val="202833"/>
                </a:solidFill>
              </a:rPr>
              <a:t>AI clients</a:t>
            </a:r>
          </a:p>
          <a:p xmlns:a="http://schemas.openxmlformats.org/drawingml/2006/main">
            <a:pPr algn="ctr">
              <a:defRPr sz="1500" b="1">
                <a:solidFill>
                  <a:srgbClr val="202833"/>
                </a:solidFill>
              </a:defRPr>
            </a:pPr>
            <a:r>
              <a:rPr sz="1500" b="1">
                <a:solidFill>
                  <a:srgbClr val="202833"/>
                </a:solidFill>
              </a:rPr>
              <a:t>Codex | Copilot | ChatGPT | Claude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3063B5-B563-459F-AF69-B3B459BC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7175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E74B5"/>
                </a:solidFill>
              </a:defRPr>
            </a:pPr>
            <a:r>
              <a:rPr sz="2550" b="1">
                <a:solidFill>
                  <a:srgbClr val="2E74B5"/>
                </a:solidFill>
              </a:rPr>
              <a:t>-&gt;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4F50C-312B-45B2-8BD8-F3E3B663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90750"/>
            <a:ext cx="4000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19050">
            <a:solidFill>
              <a:srgbClr val="2E74B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833"/>
                </a:solidFill>
              </a:defRPr>
            </a:pPr>
            <a:r>
              <a:rPr sz="1650" b="1">
                <a:solidFill>
                  <a:srgbClr val="202833"/>
                </a:solidFill>
              </a:rPr>
              <a:t>AFH MCP Gateway</a:t>
            </a:r>
          </a:p>
          <a:p xmlns:a="http://schemas.openxmlformats.org/drawingml/2006/main">
            <a:pPr algn="ctr">
              <a:defRPr sz="1650" b="1">
                <a:solidFill>
                  <a:srgbClr val="202833"/>
                </a:solidFill>
              </a:defRPr>
            </a:pPr>
            <a:r>
              <a:rPr sz="1650" b="1">
                <a:solidFill>
                  <a:srgbClr val="202833"/>
                </a:solidFill>
              </a:rPr>
              <a:t>protocol | routing | auth | audit | discovery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C401F-9C1B-4345-B175-4876D54A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Booking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200D6-A6A8-45DA-A080-D2965206B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77190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B8BCC4"/>
                </a:solidFill>
              </a:defRPr>
            </a:pPr>
            <a:r>
              <a:rPr sz="1950" b="0">
                <a:solidFill>
                  <a:srgbClr val="B8BCC4"/>
                </a:solidFill>
              </a:rPr>
              <a:t>↑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03FFE1-410B-4D14-BE94-22430682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7195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Calendar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629EC3-64E1-4958-9783-562F6CAC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77190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B8BCC4"/>
                </a:solidFill>
              </a:defRPr>
            </a:pPr>
            <a:r>
              <a:rPr sz="1950" b="0">
                <a:solidFill>
                  <a:srgbClr val="B8BCC4"/>
                </a:solidFill>
              </a:rPr>
              <a:t>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5EB9F3-15B7-48C4-9790-E7EDD8BF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7195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Notification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015BB-9072-4BAF-B8C5-55AF7FC7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377190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B8BCC4"/>
                </a:solidFill>
              </a:defRPr>
            </a:pPr>
            <a:r>
              <a:rPr sz="1950" b="0">
                <a:solidFill>
                  <a:srgbClr val="B8BCC4"/>
                </a:solidFill>
              </a:rPr>
              <a:t>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913EF-548D-4008-B833-58812F8FC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17195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Location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113C15-8AE4-462D-9911-861A3325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77190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B8BCC4"/>
                </a:solidFill>
              </a:defRPr>
            </a:pPr>
            <a:r>
              <a:rPr sz="1950" b="0">
                <a:solidFill>
                  <a:srgbClr val="B8BCC4"/>
                </a:solidFill>
              </a:rPr>
              <a:t>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65B9C4-0DBF-4180-A689-8B02DC20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17195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Adviser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5A3145-9A44-4F66-BF43-B05A2414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77190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B8BCC4"/>
                </a:solidFill>
              </a:defRPr>
            </a:pPr>
            <a:r>
              <a:rPr sz="1950" b="0">
                <a:solidFill>
                  <a:srgbClr val="B8BCC4"/>
                </a:solidFill>
              </a:rPr>
              <a:t>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E09BA8-A5E5-4E10-AAD3-D8D64410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911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Identity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2F83A5-8CA0-4170-BD06-7AAB37FA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45910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B8BCC4"/>
                </a:solidFill>
              </a:defRPr>
            </a:pPr>
            <a:r>
              <a:rPr sz="1950" b="0">
                <a:solidFill>
                  <a:srgbClr val="B8BCC4"/>
                </a:solidFill>
              </a:rPr>
              <a:t>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DF6D3C-461C-4E5A-A7E0-8C3BC235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9911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ACS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AAAD6B-2868-4CC2-8558-135965EA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45910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B8BCC4"/>
                </a:solidFill>
              </a:defRPr>
            </a:pPr>
            <a:r>
              <a:rPr sz="1950" b="0">
                <a:solidFill>
                  <a:srgbClr val="B8BCC4"/>
                </a:solidFill>
              </a:rPr>
              <a:t>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87DF27-BDF3-4521-9F84-E53E8B36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9911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Client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EE0B1C-4A1A-4294-A732-B3F53FF5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45910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B8BCC4"/>
                </a:solidFill>
              </a:defRPr>
            </a:pPr>
            <a:r>
              <a:rPr sz="1950" b="0">
                <a:solidFill>
                  <a:srgbClr val="B8BCC4"/>
                </a:solidFill>
              </a:rPr>
              <a:t>↑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EC670A-DB30-4CD3-A3E5-FB20012A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911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DevOps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855CDC-DB08-4B9E-855D-A1FCEB4F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45910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B8BCC4"/>
                </a:solidFill>
              </a:defRPr>
            </a:pPr>
            <a:r>
              <a:rPr sz="1950" b="0">
                <a:solidFill>
                  <a:srgbClr val="B8BCC4"/>
                </a:solidFill>
              </a:rPr>
              <a:t>↑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CA071B-9C5E-4DC5-975A-63150A74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9911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SharePoint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A28176-C684-4200-80B3-A1FEEBAE5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59105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B8BCC4"/>
                </a:solidFill>
              </a:defRPr>
            </a:pPr>
            <a:r>
              <a:rPr sz="1950" b="0">
                <a:solidFill>
                  <a:srgbClr val="B8BCC4"/>
                </a:solidFill>
              </a:rPr>
              <a:t>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99D5CC-2E6F-493E-BBD2-5694B97F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63D5C"/>
                </a:solidFill>
              </a:defRPr>
            </a:pPr>
            <a:r>
              <a:rPr sz="1575" b="1">
                <a:solidFill>
                  <a:srgbClr val="163D5C"/>
                </a:solidFill>
              </a:rPr>
              <a:t>SDKs provide contracts and protocol primitives, not business rules.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D333C7-70E5-4B6F-916A-A3099D065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590762-2F25-4709-9983-48A1E118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101811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B232B4-C818-48DC-845D-7D02E3F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INTERNAL COMMUNICATION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064860-FFDC-4F62-942C-73F3FC41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HTTP fits the Functions estate; Service Bus fits long-running workflows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461A78-6CEE-4636-ADCB-645E03BE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95CCAE-6682-448D-B8B1-BEC69F6C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Mechanism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E5757-F20E-4DE0-8941-B3FD1EDE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38350"/>
            <a:ext cx="4905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Best use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295541-B07F-4A94-A83B-FE18332A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038350"/>
            <a:ext cx="385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Decision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64A28-1B39-4862-8BF7-5C23E530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955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HTTP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C1D653-28BB-46D7-9183-E4346DEA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95550"/>
            <a:ext cx="49053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Synchronous tool calls to existing Function APIs.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D623DE-F7A6-446D-ABED-E7523A953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495550"/>
            <a:ext cx="385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Default path for MCP Gateway to services.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E1750A-BEA0-4B8E-8CEF-17B4FF24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Azure Service Bus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E95ADC-B194-4AAA-9C60-D700C309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14700"/>
            <a:ext cx="49053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Durable commands, retries, fan-out, long-running workflows.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ACD563-39C4-4EB9-BF93-0FD223F24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314700"/>
            <a:ext cx="385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Use for DevOps and document workflows.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7A3BF2-27B9-40AB-A224-427CB5B7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338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gRPC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DA629F-8255-49CF-A62C-0D08C10B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33850"/>
            <a:ext cx="49053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High-throughput internal APIs.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91E58C-3560-4734-A145-8EA4D1A1F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4133850"/>
            <a:ext cx="385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Defer unless hosting model changes.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47C907-C8DA-4CDC-9E84-56BF5659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530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Direct references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1245EE-1B56-487E-9A2A-861A96E9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53000"/>
            <a:ext cx="490537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Local code reuse.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FA93B0-3F43-441D-BA56-FD8E8F84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4953000"/>
            <a:ext cx="3857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Avoid in the gateway.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7BD9AA-1EAD-4A21-9C36-A21709AA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14062D-49CD-4830-BDDB-BDF2E58C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758378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8F3AE2-6AB7-441D-910C-230EADA5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ORCHESTRATION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9166E-52C5-4E68-B6DB-F5C37E88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The gateway should coordinate policy, not own long-running workflows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01587-E951-4091-A291-A9292D58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70F35D-E729-4A42-A291-1E0DC6D5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833"/>
                </a:solidFill>
              </a:defRPr>
            </a:pPr>
            <a:r>
              <a:rPr sz="1800" b="1">
                <a:solidFill>
                  <a:srgbClr val="202833"/>
                </a:solidFill>
              </a:rPr>
              <a:t>Gateway owns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DEB219-32F4-44CC-8C70-7D63D7A9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9E29E0-4098-4CB2-8A81-D326A3FB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19400"/>
            <a:ext cx="3962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833"/>
                </a:solidFill>
              </a:defRPr>
            </a:pPr>
            <a:r>
              <a:rPr sz="1500" b="0">
                <a:solidFill>
                  <a:srgbClr val="202833"/>
                </a:solidFill>
              </a:rPr>
              <a:t>Tool discovery and schema 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30DCE5-E44B-460A-AF44-11799E70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242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EE7AD5-353E-4DEB-8765-38758373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14700"/>
            <a:ext cx="3962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833"/>
                </a:solidFill>
              </a:defRPr>
            </a:pPr>
            <a:r>
              <a:rPr sz="1500" b="0">
                <a:solidFill>
                  <a:srgbClr val="202833"/>
                </a:solidFill>
              </a:rPr>
              <a:t>Authentication and permission 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6C9DDE-D7AE-4853-95DF-8979DFB79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95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2CC2C7-3FD1-4CEC-B1EB-83ED6FF6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62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833"/>
                </a:solidFill>
              </a:defRPr>
            </a:pPr>
            <a:r>
              <a:rPr sz="1500" b="0">
                <a:solidFill>
                  <a:srgbClr val="202833"/>
                </a:solidFill>
              </a:rPr>
              <a:t>Audit envelope and redaction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7F1319-8905-4892-A432-A3461F62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148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F7749-91E9-4E22-A612-3F8C92DF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05300"/>
            <a:ext cx="3962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833"/>
                </a:solidFill>
              </a:defRPr>
            </a:pPr>
            <a:r>
              <a:rPr sz="1500" b="0">
                <a:solidFill>
                  <a:srgbClr val="202833"/>
                </a:solidFill>
              </a:rPr>
              <a:t>Thin read aggregation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8D910C-EB34-4905-932B-0C4CA271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1455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833"/>
                </a:solidFill>
              </a:defRPr>
            </a:pPr>
            <a:r>
              <a:rPr sz="1800" b="1">
                <a:solidFill>
                  <a:srgbClr val="202833"/>
                </a:solidFill>
              </a:rPr>
              <a:t>Workflow services own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F72C4B-451F-4F57-B73B-176D9E42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289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75C607-EA06-4691-8EAB-804D969A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19400"/>
            <a:ext cx="3962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833"/>
                </a:solidFill>
              </a:defRPr>
            </a:pPr>
            <a:r>
              <a:rPr sz="1500" b="0">
                <a:solidFill>
                  <a:srgbClr val="202833"/>
                </a:solidFill>
              </a:rPr>
              <a:t>Requirement document to work items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A0328D-2D21-4C3D-A0AE-B77AEECB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242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6AB0EA-11ED-4BFB-97D5-F3134FD1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14700"/>
            <a:ext cx="3962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833"/>
                </a:solidFill>
              </a:defRPr>
            </a:pPr>
            <a:r>
              <a:rPr sz="1500" b="0">
                <a:solidFill>
                  <a:srgbClr val="202833"/>
                </a:solidFill>
              </a:rPr>
              <a:t>SharePoint document analysis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E66BEB-0632-4CDE-BFED-3D3FE830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195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C16860-9740-4AB9-830B-FBF8BD56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10000"/>
            <a:ext cx="3962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833"/>
                </a:solidFill>
              </a:defRPr>
            </a:pPr>
            <a:r>
              <a:rPr sz="1500" b="0">
                <a:solidFill>
                  <a:srgbClr val="202833"/>
                </a:solidFill>
              </a:rPr>
              <a:t>Sprint planning and PR linking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4F5599-7667-46D4-AFC8-23499790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148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74B5"/>
                </a:solidFill>
              </a:defRPr>
            </a:pPr>
            <a:r>
              <a:rPr sz="15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C10E15-D003-48F0-9F2A-192F6618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305300"/>
            <a:ext cx="3962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833"/>
                </a:solidFill>
              </a:defRPr>
            </a:pPr>
            <a:r>
              <a:rPr sz="1500" b="0">
                <a:solidFill>
                  <a:srgbClr val="202833"/>
                </a:solidFill>
              </a:rPr>
              <a:t>Production issue investigation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4B511C-320E-408E-B96E-D90C82AA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76900"/>
            <a:ext cx="10210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FE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6B35"/>
                </a:solidFill>
              </a:defRPr>
            </a:pPr>
            <a:r>
              <a:rPr sz="1650" b="1">
                <a:solidFill>
                  <a:srgbClr val="FF6B35"/>
                </a:solidFill>
              </a:rPr>
              <a:t>Rule: if it needs durable state, retries, idempotency, approvals, or domain decisions, it belongs outside the gateway.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44E5AE-1887-4FA4-921A-A4544D86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CE2B6C-C964-4BAC-B74B-2F6E27344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325599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FCB369-CD8E-4A38-8075-65CDE517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DEVOPS INTEGRATION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B6F8A5-04C5-44F0-80C6-CAE4DF6A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Azure DevOps automation needs its own service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7E5BA4-8532-4500-B012-E2F6F039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35ED92-7C5B-41F3-89D5-40E46574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02833"/>
                </a:solidFill>
              </a:defRPr>
            </a:pPr>
            <a:r>
              <a:rPr sz="1950" b="0">
                <a:solidFill>
                  <a:srgbClr val="202833"/>
                </a:solidFill>
              </a:rPr>
              <a:t>Put this under /services as afh-devops-integration-function-app and expose it through devops.* tools.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D936E0-E555-404B-BA2C-5CC9ACEC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3143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Layer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876D33-D1F7-4735-9EB4-09BE89996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009900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Owns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106A47-20B0-466A-A432-72111EC3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67100"/>
            <a:ext cx="314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MCP Gateway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B7EC43-9928-4399-89DC-2C6DAB65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46710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Tool exposure, AI policy, audit envelope, approval checks.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ECF861-7DDB-431E-9A6E-2D77D844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33850"/>
            <a:ext cx="314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DevOps Application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B68FDC-F3A5-4C3E-9B0E-F1B94F7AC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13385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Create Epics, Features, User Stories, Tasks, updates, sprint reads, implementation plans.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0AD56-F52F-48F0-8D76-597099E9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314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DevOps Infrastructure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9197C-5DA8-48E2-9457-4EA16196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80060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Azure DevOps REST clients, auth, retries, DTO mapping.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E5A6F2-36B6-476A-A58C-C1592C29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314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afh-common-devops SDK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85D21D-93E2-471D-B039-2F24CA77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467350"/>
            <a:ext cx="723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Reusable REST client primitives and contracts, not workflow logic.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49E18B-9C58-4536-AE88-0299B965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00EA40-34FC-45C7-AFEE-85F3488D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214541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840773-1EF5-4DC4-A21D-2FF20E43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SDK STRATEGY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512BDB-2AA8-442D-9F3D-036A4B0D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SDKs should support governance without hiding business logic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57501A-D058-4AA5-BFF5-AC922D007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99F110-CA06-49F6-89C7-1A0AF72A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30003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3D5C"/>
                </a:solidFill>
              </a:defRPr>
            </a:pPr>
            <a:r>
              <a:rPr sz="1800" b="1">
                <a:solidFill>
                  <a:srgbClr val="163D5C"/>
                </a:solidFill>
              </a:rPr>
              <a:t>Existing SDKs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E807CF-7986-41C9-9246-3E41AD6E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14550"/>
            <a:ext cx="695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833"/>
                </a:solidFill>
              </a:defRPr>
            </a:pPr>
            <a:r>
              <a:rPr sz="1725" b="0">
                <a:solidFill>
                  <a:srgbClr val="202833"/>
                </a:solidFill>
              </a:rPr>
              <a:t>error, calendar, SharePoint, XPlan, Speech AI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93AA9-3376-4A44-9CA3-A24B7FA1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30003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3D5C"/>
                </a:solidFill>
              </a:defRPr>
            </a:pPr>
            <a:r>
              <a:rPr sz="1800" b="1">
                <a:solidFill>
                  <a:srgbClr val="163D5C"/>
                </a:solidFill>
              </a:rPr>
              <a:t>afh-common-ai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1B0987-7D1B-4FD8-AEB8-36BF4727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28950"/>
            <a:ext cx="695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833"/>
                </a:solidFill>
              </a:defRPr>
            </a:pPr>
            <a:r>
              <a:rPr sz="1725" b="0">
                <a:solidFill>
                  <a:srgbClr val="202833"/>
                </a:solidFill>
              </a:rPr>
              <a:t>tool manifests, actor context, permissions, redaction, audit contracts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69278C-DF98-4EE2-B933-747F00E41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30003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3D5C"/>
                </a:solidFill>
              </a:defRPr>
            </a:pPr>
            <a:r>
              <a:rPr sz="1800" b="1">
                <a:solidFill>
                  <a:srgbClr val="163D5C"/>
                </a:solidFill>
              </a:rPr>
              <a:t>afh-common-mcp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45E7B7-D4B6-4136-B121-D2ADAFC1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43350"/>
            <a:ext cx="695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833"/>
                </a:solidFill>
              </a:defRPr>
            </a:pPr>
            <a:r>
              <a:rPr sz="1725" b="0">
                <a:solidFill>
                  <a:srgbClr val="202833"/>
                </a:solidFill>
              </a:rPr>
              <a:t>MCP envelopes, discovery client, schema validation helpers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5D94D1-11B2-4E3C-B82C-878726E5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30003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63D5C"/>
                </a:solidFill>
              </a:defRPr>
            </a:pPr>
            <a:r>
              <a:rPr sz="1800" b="1">
                <a:solidFill>
                  <a:srgbClr val="163D5C"/>
                </a:solidFill>
              </a:rPr>
              <a:t>afh-common-devops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C825D-32CC-4660-A9C0-B85B5BC7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57750"/>
            <a:ext cx="695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833"/>
                </a:solidFill>
              </a:defRPr>
            </a:pPr>
            <a:r>
              <a:rPr sz="1725" b="0">
                <a:solidFill>
                  <a:srgbClr val="202833"/>
                </a:solidFill>
              </a:rPr>
              <a:t>Azure DevOps client primitives, work item DTOs, PR linking DTOs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83E1BD-B42B-4C57-A21C-3812FCC4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53100"/>
            <a:ext cx="10515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833"/>
                </a:solidFill>
              </a:defRPr>
            </a:pPr>
            <a:r>
              <a:rPr sz="1650" b="1">
                <a:solidFill>
                  <a:srgbClr val="202833"/>
                </a:solidFill>
              </a:rPr>
              <a:t>Boundary: SDKs provide contracts and infrastructure primitives. They do not own domain workflows.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DAFC9E-2BBA-4D28-B97A-5837C634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0DFB6-7127-4D61-9D87-401EB593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132326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A486A0-D91D-42E6-B6C7-90504CC5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SECURITY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2085B-1E7C-45E9-8A9F-CAA6446F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Every AI action should carry both the human actor and the AI agent identity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A3A47-A3EA-4309-9CDC-5F3F4875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3F310-5D00-4EC6-9E62-E522B57F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Concern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237D8-7EB9-40AE-8251-13D4F09F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19300"/>
            <a:ext cx="828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02833"/>
                </a:solidFill>
              </a:defRPr>
            </a:pPr>
            <a:r>
              <a:rPr sz="1350" b="1">
                <a:solidFill>
                  <a:srgbClr val="202833"/>
                </a:solidFill>
              </a:rPr>
              <a:t>Recommended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2F9E3-BF9D-4CC8-B7AE-EB1DD54D7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Authentication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9317C0-5EE8-4C27-A27C-429B7B4A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76500"/>
            <a:ext cx="828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AI clients authenticate at the MCP Gateway using Entra ID where possible.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A3E880-B93C-4664-9736-0B753FD8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Authorization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D2BC85-63B0-4038-8E2E-D21A5CC7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00400"/>
            <a:ext cx="828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Use capability permissions such as booking.read, booking.rearrange, and devops.workitem.write.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BFC0BA-1216-47B2-9FBA-C7A24310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24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Propagation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DB2FE-47B1-4169-AC31-2EE07411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924300"/>
            <a:ext cx="828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Pass actor user, actor email, AI agent, AI session, correlation ID, permission, and approval ID.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93D42-E8F9-459E-A4B5-88431D51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482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Audit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CCEA4D-C387-44CB-AA69-99B08074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48200"/>
            <a:ext cx="828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Record tool, side-effect level, request hash, redaction state, target service, result, and latency.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2BF698-9227-4A47-8BAB-F58E04F9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721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High-risk tools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41F5DB-8D91-4834-A6CE-38644DE7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372100"/>
            <a:ext cx="828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02833"/>
                </a:solidFill>
              </a:defRPr>
            </a:pPr>
            <a:r>
              <a:rPr sz="1200" b="0">
                <a:solidFill>
                  <a:srgbClr val="202833"/>
                </a:solidFill>
              </a:rPr>
              <a:t>Require dry-run, approval, idempotency keys, and stronger audit.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4D06B0-98B9-48BA-A0E1-1BD43D39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8CA53A-BE7B-4135-879B-7FB045C7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990712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D78C24-A1EE-4D81-BC71-E8092FC6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TOOL DISCOVERY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B2A245-07E6-4591-80B7-1D893F29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Services publish manifests so the gateway does not need constant edits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39CA50-E242-4F6E-ADAE-6675B2AA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2586C0-BF18-4758-B85E-FBF7C948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3429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D5C"/>
                </a:solidFill>
              </a:defRPr>
            </a:pPr>
            <a:r>
              <a:rPr sz="1875" b="1">
                <a:solidFill>
                  <a:srgbClr val="163D5C"/>
                </a:solidFill>
              </a:rPr>
              <a:t>internal/ai/tools</a:t>
            </a:r>
          </a:p>
          <a:p xmlns:a="http://schemas.openxmlformats.org/drawingml/2006/main">
            <a:pPr algn="ctr">
              <a:defRPr sz="1875" b="1">
                <a:solidFill>
                  <a:srgbClr val="163D5C"/>
                </a:solidFill>
              </a:defRPr>
            </a:pPr>
            <a:r>
              <a:rPr sz="1875" b="1">
                <a:solidFill>
                  <a:srgbClr val="163D5C"/>
                </a:solidFill>
              </a:rPr>
              <a:t>.well-known/afh-ai-tools.json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2A3F5-56A9-4951-87BC-76702F2C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14550"/>
            <a:ext cx="6096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02833"/>
                </a:solidFill>
              </a:defRPr>
            </a:pPr>
            <a:r>
              <a:rPr sz="1950" b="0">
                <a:solidFill>
                  <a:srgbClr val="202833"/>
                </a:solidFill>
              </a:rPr>
              <a:t>Each service publishes tool name, owner, schema, required permission, side-effect level, approval requirement, endpoint mapping, version, and deprecation status.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70E6B-255F-4369-811C-CDB6D890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9677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833"/>
                </a:solidFill>
              </a:defRPr>
            </a:pPr>
            <a:r>
              <a:rPr sz="1875" b="1">
                <a:solidFill>
                  <a:srgbClr val="202833"/>
                </a:solidFill>
              </a:rPr>
              <a:t>OpenAPI can bootstrap read-only tools, but explicit AI metadata should be required for mutating tools.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5D6161-45D6-4A12-9FEC-4C7F39C8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E897C-86CE-48DD-8787-E1D23B23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633803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C008AE-B2BE-4B18-9523-C38B1A7F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74B5"/>
                </a:solidFill>
              </a:defRPr>
            </a:pPr>
            <a:r>
              <a:rPr sz="1200" b="1">
                <a:solidFill>
                  <a:srgbClr val="2E74B5"/>
                </a:solidFill>
              </a:rPr>
              <a:t>GROWTH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5860B6-B9B9-4BD9-A319-BD5151C2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04850"/>
            <a:ext cx="1047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This scales by keeping ownership distributed and governance centralized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95146-4325-4851-8F87-18AFA1EF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503879-16A3-458B-B992-04E1A754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74B5"/>
                </a:solidFill>
              </a:defRPr>
            </a:pPr>
            <a:r>
              <a:rPr sz="18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425554-5FDB-484E-B435-A826BEA3B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95500"/>
            <a:ext cx="9963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833"/>
                </a:solidFill>
              </a:defRPr>
            </a:pPr>
            <a:r>
              <a:rPr sz="1800" b="0">
                <a:solidFill>
                  <a:srgbClr val="202833"/>
                </a:solidFill>
              </a:rPr>
              <a:t>Start with read-only tools and explicit manifests for existing services.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9DFF82-5F4C-407D-9F4D-F0D43644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74B5"/>
                </a:solidFill>
              </a:defRPr>
            </a:pPr>
            <a:r>
              <a:rPr sz="18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AC10DE-429B-4488-8FB4-299149D8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14625"/>
            <a:ext cx="9963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833"/>
                </a:solidFill>
              </a:defRPr>
            </a:pPr>
            <a:r>
              <a:rPr sz="1800" b="0">
                <a:solidFill>
                  <a:srgbClr val="202833"/>
                </a:solidFill>
              </a:rPr>
              <a:t>Add mutating tools only after identity propagation, audit, dry-run, and approval flows are proven.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C15764-0397-44D2-89F9-AAE471D5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4327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74B5"/>
                </a:solidFill>
              </a:defRPr>
            </a:pPr>
            <a:r>
              <a:rPr sz="18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B14060-02F1-45BD-BA2E-9424D7CD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33750"/>
            <a:ext cx="9963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833"/>
                </a:solidFill>
              </a:defRPr>
            </a:pPr>
            <a:r>
              <a:rPr sz="1800" b="0">
                <a:solidFill>
                  <a:srgbClr val="202833"/>
                </a:solidFill>
              </a:rPr>
              <a:t>Create DevOps Integration as the first workflow-specific service.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B7D5B7-8F2D-4768-9FD6-F48C9311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62400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74B5"/>
                </a:solidFill>
              </a:defRPr>
            </a:pPr>
            <a:r>
              <a:rPr sz="18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9B67CC-6E68-4F6F-A6E6-8A21A666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52875"/>
            <a:ext cx="9963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833"/>
                </a:solidFill>
              </a:defRPr>
            </a:pPr>
            <a:r>
              <a:rPr sz="1800" b="0">
                <a:solidFill>
                  <a:srgbClr val="202833"/>
                </a:solidFill>
              </a:rPr>
              <a:t>Add SharePoint or Document Intelligence when requirement analysis becomes substantial.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946B4C-F13E-40FA-8AE7-B6B8088AC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81525"/>
            <a:ext cx="20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74B5"/>
                </a:solidFill>
              </a:defRPr>
            </a:pPr>
            <a:r>
              <a:rPr sz="1800" b="1">
                <a:solidFill>
                  <a:srgbClr val="2E74B5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ED4C68-628A-499D-8E87-B1FFB54C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72000"/>
            <a:ext cx="9963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833"/>
                </a:solidFill>
              </a:defRPr>
            </a:pPr>
            <a:r>
              <a:rPr sz="1800" b="0">
                <a:solidFill>
                  <a:srgbClr val="202833"/>
                </a:solidFill>
              </a:rPr>
              <a:t>Split into business, DevOps, or operations MCP gateways only if risk or scale requires 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261C35-1EC8-4602-A45D-CCA8221F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555"/>
                </a:solidFill>
              </a:defRPr>
            </a:pPr>
            <a:r>
              <a:rPr sz="1050" b="0">
                <a:solidFill>
                  <a:srgbClr val="555555"/>
                </a:solidFill>
              </a:rPr>
              <a:t>AFH AI Platform Architecture Proposal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1B7C0D-CC64-4E12-B767-C862460C6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008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55555"/>
                </a:solidFill>
              </a:defRPr>
            </a:pPr>
            <a:r>
              <a:rPr sz="1050" b="1">
                <a:solidFill>
                  <a:srgbClr val="555555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628102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2026-07-06T10:49:58.7030000Z</dcterms:created>
  <dcterms:modified xsi:type="dcterms:W3CDTF">2026-07-06T10:49:58.7030000Z</dcterms:modified>
</coreProperties>
</file>