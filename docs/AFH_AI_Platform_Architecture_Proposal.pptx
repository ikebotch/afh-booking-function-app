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e96239ca7bd4639" /><Relationship Type="http://schemas.openxmlformats.org/officeDocument/2006/relationships/extended-properties" Target="/docProps/app.xml" Id="Rdbeeb144662b4a1f" /><Relationship Type="http://schemas.openxmlformats.org/officeDocument/2006/relationships/officeDocument" Target="/ppt/presentation.xml" Id="R583788d07f1146b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81deeb3742a4bee"/>
  </p:sldMasterIdLst>
  <p:notesMasterIdLst>
    <p:notesMasterId xmlns:r="http://schemas.openxmlformats.org/officeDocument/2006/relationships" r:id="R0bb45e75ab4c47a1"/>
  </p:notesMasterIdLst>
  <p:sldIdLst>
    <p:sldId xmlns:r="http://schemas.openxmlformats.org/officeDocument/2006/relationships" id="256" r:id="R0a74c712b2434bf0"/>
    <p:sldId xmlns:r="http://schemas.openxmlformats.org/officeDocument/2006/relationships" id="257" r:id="Rc0749fd310fb4723"/>
    <p:sldId xmlns:r="http://schemas.openxmlformats.org/officeDocument/2006/relationships" id="258" r:id="Radd8bb9badc042a5"/>
    <p:sldId xmlns:r="http://schemas.openxmlformats.org/officeDocument/2006/relationships" id="259" r:id="R7ab4a7ba5808434b"/>
    <p:sldId xmlns:r="http://schemas.openxmlformats.org/officeDocument/2006/relationships" id="260" r:id="R42ecf2dbeef44e87"/>
    <p:sldId xmlns:r="http://schemas.openxmlformats.org/officeDocument/2006/relationships" id="261" r:id="R11b9343bc8054121"/>
    <p:sldId xmlns:r="http://schemas.openxmlformats.org/officeDocument/2006/relationships" id="262" r:id="Rb2741992629147f6"/>
    <p:sldId xmlns:r="http://schemas.openxmlformats.org/officeDocument/2006/relationships" id="263" r:id="R6c8e61984ea14714"/>
    <p:sldId xmlns:r="http://schemas.openxmlformats.org/officeDocument/2006/relationships" id="264" r:id="R0c276c27d6964841"/>
    <p:sldId xmlns:r="http://schemas.openxmlformats.org/officeDocument/2006/relationships" id="265" r:id="R2da8f8104f534006"/>
    <p:sldId xmlns:r="http://schemas.openxmlformats.org/officeDocument/2006/relationships" id="266" r:id="Rbd99a19507c34a07"/>
    <p:sldId xmlns:r="http://schemas.openxmlformats.org/officeDocument/2006/relationships" id="267" r:id="Rabb9e424b640499e"/>
    <p:sldId xmlns:r="http://schemas.openxmlformats.org/officeDocument/2006/relationships" id="268" r:id="R49ea7cbbca5a4822"/>
    <p:sldId xmlns:r="http://schemas.openxmlformats.org/officeDocument/2006/relationships" id="269" r:id="R52d8bbd90f1e4800"/>
    <p:sldId xmlns:r="http://schemas.openxmlformats.org/officeDocument/2006/relationships" id="270" r:id="R33db654f50734df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9092851ca574adc" /><Relationship Type="http://schemas.openxmlformats.org/officeDocument/2006/relationships/slideMaster" Target="/ppt/slideMasters/slideMaster1.xml" Id="R881deeb3742a4bee" /><Relationship Type="http://schemas.openxmlformats.org/officeDocument/2006/relationships/notesMaster" Target="/ppt/notesMasters/notesMaster1.xml" Id="R0bb45e75ab4c47a1" /><Relationship Type="http://schemas.openxmlformats.org/officeDocument/2006/relationships/presProps" Target="/ppt/presProps.xml" Id="R5c0065e1d11e48ca" /><Relationship Type="http://schemas.openxmlformats.org/officeDocument/2006/relationships/tableStyles" Target="/ppt/tableStyles.xml" Id="R93e6e96a55b54e54" /><Relationship Type="http://schemas.openxmlformats.org/officeDocument/2006/relationships/slide" Target="/ppt/slides/slide1.xml" Id="R0a74c712b2434bf0" /><Relationship Type="http://schemas.openxmlformats.org/officeDocument/2006/relationships/slide" Target="/ppt/slides/slide2.xml" Id="Rc0749fd310fb4723" /><Relationship Type="http://schemas.openxmlformats.org/officeDocument/2006/relationships/slide" Target="/ppt/slides/slide3.xml" Id="Radd8bb9badc042a5" /><Relationship Type="http://schemas.openxmlformats.org/officeDocument/2006/relationships/slide" Target="/ppt/slides/slide4.xml" Id="R7ab4a7ba5808434b" /><Relationship Type="http://schemas.openxmlformats.org/officeDocument/2006/relationships/slide" Target="/ppt/slides/slide5.xml" Id="R42ecf2dbeef44e87" /><Relationship Type="http://schemas.openxmlformats.org/officeDocument/2006/relationships/slide" Target="/ppt/slides/slide6.xml" Id="R11b9343bc8054121" /><Relationship Type="http://schemas.openxmlformats.org/officeDocument/2006/relationships/slide" Target="/ppt/slides/slide7.xml" Id="Rb2741992629147f6" /><Relationship Type="http://schemas.openxmlformats.org/officeDocument/2006/relationships/slide" Target="/ppt/slides/slide8.xml" Id="R6c8e61984ea14714" /><Relationship Type="http://schemas.openxmlformats.org/officeDocument/2006/relationships/slide" Target="/ppt/slides/slide9.xml" Id="R0c276c27d6964841" /><Relationship Type="http://schemas.openxmlformats.org/officeDocument/2006/relationships/slide" Target="/ppt/slides/slide10.xml" Id="R2da8f8104f534006" /><Relationship Type="http://schemas.openxmlformats.org/officeDocument/2006/relationships/slide" Target="/ppt/slides/slide11.xml" Id="Rbd99a19507c34a07" /><Relationship Type="http://schemas.openxmlformats.org/officeDocument/2006/relationships/slide" Target="/ppt/slides/slide12.xml" Id="Rabb9e424b640499e" /><Relationship Type="http://schemas.openxmlformats.org/officeDocument/2006/relationships/slide" Target="/ppt/slides/slide13.xml" Id="R49ea7cbbca5a4822" /><Relationship Type="http://schemas.openxmlformats.org/officeDocument/2006/relationships/slide" Target="/ppt/slides/slide14.xml" Id="R52d8bbd90f1e4800" /><Relationship Type="http://schemas.openxmlformats.org/officeDocument/2006/relationships/slide" Target="/ppt/slides/slide15.xml" Id="R33db654f50734df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02bd89d6034c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7a387e0f0ac456a" /><Relationship Type="http://schemas.openxmlformats.org/officeDocument/2006/relationships/notesMaster" Target="/ppt/notesMasters/notesMaster1.xml" Id="Rb16c7916d8a348d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2ebfe8ee5c34aff" /><Relationship Type="http://schemas.openxmlformats.org/officeDocument/2006/relationships/notesMaster" Target="/ppt/notesMasters/notesMaster1.xml" Id="R286faa1665c24c5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bec42d139b4452e" /><Relationship Type="http://schemas.openxmlformats.org/officeDocument/2006/relationships/notesMaster" Target="/ppt/notesMasters/notesMaster1.xml" Id="R8e36580f59d546e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afb50cfcd26428a" /><Relationship Type="http://schemas.openxmlformats.org/officeDocument/2006/relationships/notesMaster" Target="/ppt/notesMasters/notesMaster1.xml" Id="Rfbcf2563f75b464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a20a0e1740745c7" /><Relationship Type="http://schemas.openxmlformats.org/officeDocument/2006/relationships/notesMaster" Target="/ppt/notesMasters/notesMaster1.xml" Id="Rbe3c810b3ef647f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121aee96a6e4865" /><Relationship Type="http://schemas.openxmlformats.org/officeDocument/2006/relationships/notesMaster" Target="/ppt/notesMasters/notesMaster1.xml" Id="R9db37167b86f42f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2633e74089940a4" /><Relationship Type="http://schemas.openxmlformats.org/officeDocument/2006/relationships/notesMaster" Target="/ppt/notesMasters/notesMaster1.xml" Id="Rd8041ef805fa405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d1ce87e218c43cb" /><Relationship Type="http://schemas.openxmlformats.org/officeDocument/2006/relationships/notesMaster" Target="/ppt/notesMasters/notesMaster1.xml" Id="R1225911f8e41494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ba9ac55635b4b91" /><Relationship Type="http://schemas.openxmlformats.org/officeDocument/2006/relationships/notesMaster" Target="/ppt/notesMasters/notesMaster1.xml" Id="Ra49ea4a9d8f24d5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5036ec42fb14956" /><Relationship Type="http://schemas.openxmlformats.org/officeDocument/2006/relationships/notesMaster" Target="/ppt/notesMasters/notesMaster1.xml" Id="R4fcddec33a9745c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f1df272a270453f" /><Relationship Type="http://schemas.openxmlformats.org/officeDocument/2006/relationships/notesMaster" Target="/ppt/notesMasters/notesMaster1.xml" Id="R53cb2c6c52bb4e9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8f154b7f68e4003" /><Relationship Type="http://schemas.openxmlformats.org/officeDocument/2006/relationships/notesMaster" Target="/ppt/notesMasters/notesMaster1.xml" Id="R63c166b6f04548a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fc61f9daa1e46ce" /><Relationship Type="http://schemas.openxmlformats.org/officeDocument/2006/relationships/notesMaster" Target="/ppt/notesMasters/notesMaster1.xml" Id="Rb98d28e4496c425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cb94f06e7ca4165" /><Relationship Type="http://schemas.openxmlformats.org/officeDocument/2006/relationships/notesMaster" Target="/ppt/notesMasters/notesMaster1.xml" Id="Rea757fbbd1fa4ad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132e93d79f04098" /><Relationship Type="http://schemas.openxmlformats.org/officeDocument/2006/relationships/notesMaster" Target="/ppt/notesMasters/notesMaster1.xml" Id="R6c2e438000f74a9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f4ebce5625498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1d8152fb0d14448" /><Relationship Type="http://schemas.openxmlformats.org/officeDocument/2006/relationships/slideLayout" Target="/ppt/slideLayouts/slideLayout1.xml" Id="R081502d583ba442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81502d583ba442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258d4ed9874309" /><Relationship Type="http://schemas.openxmlformats.org/officeDocument/2006/relationships/notesSlide" Target="/ppt/notesSlides/notesSlide1.xml" Id="R790b8c3c4235468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ea516df2034eda" /><Relationship Type="http://schemas.openxmlformats.org/officeDocument/2006/relationships/notesSlide" Target="/ppt/notesSlides/notesSlide2.xml" Id="R50169de110df446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37875d86c14f87" /><Relationship Type="http://schemas.openxmlformats.org/officeDocument/2006/relationships/notesSlide" Target="/ppt/notesSlides/notesSlide3.xml" Id="R0add4f9c8d9c454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690a7b6cc646a5" /><Relationship Type="http://schemas.openxmlformats.org/officeDocument/2006/relationships/notesSlide" Target="/ppt/notesSlides/notesSlide4.xml" Id="Rb3839a38160a4cf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be1d27cdcc4be9" /><Relationship Type="http://schemas.openxmlformats.org/officeDocument/2006/relationships/notesSlide" Target="/ppt/notesSlides/notesSlide5.xml" Id="R0e68da22699a406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ba60ad208c4fc5" /><Relationship Type="http://schemas.openxmlformats.org/officeDocument/2006/relationships/notesSlide" Target="/ppt/notesSlides/notesSlide6.xml" Id="R39f9617c8a1243c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3fff04f3c9450f" /><Relationship Type="http://schemas.openxmlformats.org/officeDocument/2006/relationships/notesSlide" Target="/ppt/notesSlides/notesSlide7.xml" Id="Rdacc2ee80ec6472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7f0a2c8bd74aaf" /><Relationship Type="http://schemas.openxmlformats.org/officeDocument/2006/relationships/notesSlide" Target="/ppt/notesSlides/notesSlide8.xml" Id="Rdb961d76d28e444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db10d661e0495b" /><Relationship Type="http://schemas.openxmlformats.org/officeDocument/2006/relationships/notesSlide" Target="/ppt/notesSlides/notesSlide9.xml" Id="R917acf507dbd4df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ea711223574301" /><Relationship Type="http://schemas.openxmlformats.org/officeDocument/2006/relationships/notesSlide" Target="/ppt/notesSlides/notesSlide10.xml" Id="Rc9cb35dd51364bc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283cb4e6a24b31" /><Relationship Type="http://schemas.openxmlformats.org/officeDocument/2006/relationships/notesSlide" Target="/ppt/notesSlides/notesSlide11.xml" Id="R102183420ef1419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695c6530c2491e" /><Relationship Type="http://schemas.openxmlformats.org/officeDocument/2006/relationships/notesSlide" Target="/ppt/notesSlides/notesSlide12.xml" Id="Rc4e6593d39e349a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ae8bce6d2a477a" /><Relationship Type="http://schemas.openxmlformats.org/officeDocument/2006/relationships/notesSlide" Target="/ppt/notesSlides/notesSlide13.xml" Id="Rae80439d8d17452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0ecb333ea441c9" /><Relationship Type="http://schemas.openxmlformats.org/officeDocument/2006/relationships/notesSlide" Target="/ppt/notesSlides/notesSlide14.xml" Id="R88674ff6cc7142d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59c35ac6904fb6" /><Relationship Type="http://schemas.openxmlformats.org/officeDocument/2006/relationships/notesSlide" Target="/ppt/notesSlides/notesSlide15.xml" Id="Rfbe6e700c9c54be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7B2F04-8D7B-48F1-97D9-AE75633ED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74B5"/>
                </a:solidFill>
              </a:defRPr>
            </a:pPr>
            <a:r>
              <a:rPr sz="1350" b="1">
                <a:solidFill>
                  <a:srgbClr val="2E74B5"/>
                </a:solidFill>
              </a:rPr>
              <a:t>ARCHITECTURE PROPOSAL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A6766B-E734-4BFB-B289-8BD0D5B8C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9334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000000"/>
                </a:solidFill>
              </a:defRPr>
            </a:pPr>
            <a:r>
              <a:rPr sz="4650" b="1">
                <a:solidFill>
                  <a:srgbClr val="000000"/>
                </a:solidFill>
              </a:rPr>
              <a:t>AFH AI Platform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209A43-6CE7-424C-B4A0-48A4AA45D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95600"/>
            <a:ext cx="866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833"/>
                </a:solidFill>
              </a:defRPr>
            </a:pPr>
            <a:r>
              <a:rPr sz="2025" b="0">
                <a:solidFill>
                  <a:srgbClr val="202833"/>
                </a:solidFill>
              </a:rPr>
              <a:t>A governed MCP Gateway with service-owned AI tools, workflow services, and SDK-backed platform primitives.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D0EC8C-41FD-470D-BC68-5B5F7ECA0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48200"/>
            <a:ext cx="781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2833"/>
                </a:solidFill>
              </a:defRPr>
            </a:pPr>
            <a:r>
              <a:rPr sz="1725" b="1">
                <a:solidFill>
                  <a:srgbClr val="202833"/>
                </a:solidFill>
              </a:rPr>
              <a:t>Proposal: Gateway as protocol and policy boundary. Services keep business logic.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BF7CAA-7A83-4887-A215-4CFD8D68B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198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Prepared for senior engineering and architecture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2F7B04-205F-48E3-8862-05FFB0B0D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AFH AI Platform Architecture Proposal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77DB86-F380-4B7E-AE89-1CB65F74D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373950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A3A340-D67A-4F13-8E79-75412714F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E74B5"/>
                </a:solidFill>
              </a:defRPr>
            </a:pPr>
            <a:r>
              <a:rPr sz="1200" b="1">
                <a:solidFill>
                  <a:srgbClr val="2E74B5"/>
                </a:solidFill>
              </a:rPr>
              <a:t>PROPOSED APPROACH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5B99CE-573E-4E53-BB5A-991E37957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047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Proposed direction: central MCP Gateway with service-owned capabilities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365D1E-385C-4E87-8630-BD63EF85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586B8E-5B7F-4197-BE34-7DD3CE44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3143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3D5C"/>
                </a:solidFill>
              </a:defRPr>
            </a:pPr>
            <a:r>
              <a:rPr sz="2100" b="1">
                <a:solidFill>
                  <a:srgbClr val="163D5C"/>
                </a:solidFill>
              </a:rPr>
              <a:t>Option B as the starting proposal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12D4A4-CD77-45AB-8587-E8D310C14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0383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02833"/>
                </a:solidFill>
              </a:defRPr>
            </a:pPr>
            <a:r>
              <a:rPr sz="1950" b="0">
                <a:solidFill>
                  <a:srgbClr val="202833"/>
                </a:solidFill>
              </a:rPr>
              <a:t>AI clients connect to one governed entry point. The gateway discovers tools and routes to existing service APIs.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6A72E8-D506-47E3-9A43-A833D8AB4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0"/>
            <a:ext cx="3143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3D5C"/>
                </a:solidFill>
              </a:defRPr>
            </a:pPr>
            <a:r>
              <a:rPr sz="2100" b="1">
                <a:solidFill>
                  <a:srgbClr val="163D5C"/>
                </a:solidFill>
              </a:rPr>
              <a:t>Evolve toward Option 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DA13FD-C680-4BDF-9EB6-75265FBD8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9090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02833"/>
                </a:solidFill>
              </a:defRPr>
            </a:pPr>
            <a:r>
              <a:rPr sz="1950" b="0">
                <a:solidFill>
                  <a:srgbClr val="202833"/>
                </a:solidFill>
              </a:rPr>
              <a:t>Long-running or stateful workflows move into dedicated services such as DevOps Integration or Document Intelligence.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3DB8E3-54F2-4951-96BC-9D5330D93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81550"/>
            <a:ext cx="3143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FE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6B35"/>
                </a:solidFill>
              </a:defRPr>
            </a:pPr>
            <a:r>
              <a:rPr sz="1875" b="1">
                <a:solidFill>
                  <a:srgbClr val="FF6B35"/>
                </a:solidFill>
              </a:rPr>
              <a:t>Boundary: domain logic remains in services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B04195-AD6E-42D2-8AEB-30A04CF05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743450"/>
            <a:ext cx="723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02833"/>
                </a:solidFill>
              </a:defRPr>
            </a:pPr>
            <a:r>
              <a:rPr sz="1950" b="0">
                <a:solidFill>
                  <a:srgbClr val="202833"/>
                </a:solidFill>
              </a:rPr>
              <a:t>Booking, Calendar, Notification, Location, Adviser, Identity, ACS, Client, DevOps, and SharePoint remain owners of their own rules.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18B0CC-6CCC-47EB-913C-3D848576C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AFH AI Platform Architecture Proposal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C2DA53-34BA-4A9A-A132-CCE11F5DE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434302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655C72-98EF-42A6-8585-9C88ECB4C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E74B5"/>
                </a:solidFill>
              </a:defRPr>
            </a:pPr>
            <a:r>
              <a:rPr sz="1200" b="1">
                <a:solidFill>
                  <a:srgbClr val="2E74B5"/>
                </a:solidFill>
              </a:rPr>
              <a:t>CURRENT STATE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E662EB-D84A-416D-BE0B-A0E0B28F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047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The solution already has service boundaries and shared SDKs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0FF9A4-B904-40B5-A79E-69D67A087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A777B4-18EE-4933-BFFC-385357FD4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1455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Booking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E245E0-0E00-4C12-B74C-9C97D39F3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availability, holds, lifecycle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E247A3-9118-4CA9-86DF-4BF17037D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1455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Calendar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D782F1-3861-4B3E-A162-7ABBF1C4B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72415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Graph schedules and webhooks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5FEB28-4141-4B73-A309-3BB7FB3CC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1455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Notification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40C937-40B6-45F6-ACD1-B001AFFBB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2415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templates, dispatch, retries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4D19CC-FF69-4E54-AA74-8841417C8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11455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Location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36CDD4-5394-44DC-A538-A7E3D090B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72415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route time and coverage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5A74AE-7B68-4322-9C59-171052D6E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8615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Adviser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CBCC01-AECA-4746-B512-2215D25B5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profiles and availability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ACD9FB-C5D9-41FF-AB02-E7CDFDD54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8615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Identity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5C30C8-3597-4C91-8BB4-0D6864045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09575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roles and permissions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6973AB-37ED-4179-9064-C6EA6503B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8615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ACS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7DAEAD-1B1C-4A08-91AB-CB7D5F7FE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9575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meetings and transcriptions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45AB03-0039-4A2D-BCDF-22FA7DD22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8615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Client Integration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5ED4FE-A0A8-474C-AD2E-89643F742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09575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XPlan and Snowflake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3BDE25-BBA0-4DFF-BBCF-9ECA4233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48250"/>
            <a:ext cx="952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63D5C"/>
                </a:solidFill>
              </a:defRPr>
            </a:pPr>
            <a:r>
              <a:rPr sz="1800" b="1">
                <a:solidFill>
                  <a:srgbClr val="163D5C"/>
                </a:solidFill>
              </a:rPr>
              <a:t>Shared SDKs: error, calendar, SharePoint, XPlan, Speech AI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565476-083F-4364-B61D-89C786F0A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AFH AI Platform Architecture Proposal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642DAD-9F98-4DC1-8D6C-D3CE8579D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900151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6EC13A-D74E-4654-A0FE-2E63AEFA6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E74B5"/>
                </a:solidFill>
              </a:defRPr>
            </a:pPr>
            <a:r>
              <a:rPr sz="1200" b="1">
                <a:solidFill>
                  <a:srgbClr val="2E74B5"/>
                </a:solidFill>
              </a:rPr>
              <a:t>IMPLEMENTATION 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EF0A61-01E1-4807-8109-20F4BE095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047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Most business capability exists; the proposal adds AI-facing boundaries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67C552-6500-4240-ACD6-EC7FD5E3E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A296EF-0547-40DB-9361-39B4DB180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2524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833"/>
                </a:solidFill>
              </a:defRPr>
            </a:pPr>
            <a:r>
              <a:rPr sz="1350" b="1">
                <a:solidFill>
                  <a:srgbClr val="202833"/>
                </a:solidFill>
              </a:rPr>
              <a:t>Area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31B944-0E8F-4A61-B0C9-09EC9C43B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133600"/>
            <a:ext cx="4191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833"/>
                </a:solidFill>
              </a:defRPr>
            </a:pPr>
            <a:r>
              <a:rPr sz="1350" b="1">
                <a:solidFill>
                  <a:srgbClr val="202833"/>
                </a:solidFill>
              </a:rPr>
              <a:t>Exists today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357662-8206-4081-BD0E-E84B080C7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133600"/>
            <a:ext cx="4429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833"/>
                </a:solidFill>
              </a:defRPr>
            </a:pPr>
            <a:r>
              <a:rPr sz="1350" b="1">
                <a:solidFill>
                  <a:srgbClr val="202833"/>
                </a:solidFill>
              </a:rPr>
              <a:t>Proposed implementation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C92105-387E-411D-91E8-EE67A184D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90800"/>
            <a:ext cx="25241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833"/>
                </a:solidFill>
              </a:defRPr>
            </a:pPr>
            <a:r>
              <a:rPr sz="1200" b="0">
                <a:solidFill>
                  <a:srgbClr val="202833"/>
                </a:solidFill>
              </a:rPr>
              <a:t>Business services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7A3D82-5AA4-423F-99AC-DB590B9D1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590800"/>
            <a:ext cx="4191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833"/>
                </a:solidFill>
              </a:defRPr>
            </a:pPr>
            <a:r>
              <a:rPr sz="1200" b="0">
                <a:solidFill>
                  <a:srgbClr val="202833"/>
                </a:solidFill>
              </a:rPr>
              <a:t>Booking, Calendar, Notification, Location, Adviser, Identity, ACS, Client Integration.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AD5A15-08A3-47B7-9DD6-DEAC33691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590800"/>
            <a:ext cx="44291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833"/>
                </a:solidFill>
              </a:defRPr>
            </a:pPr>
            <a:r>
              <a:rPr sz="1200" b="0">
                <a:solidFill>
                  <a:srgbClr val="202833"/>
                </a:solidFill>
              </a:rPr>
              <a:t>Publish service-owned AI tool manifests that map to existing APIs.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D2D263-966E-49DE-915E-F3211AEC2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09950"/>
            <a:ext cx="25241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833"/>
                </a:solidFill>
              </a:defRPr>
            </a:pPr>
            <a:r>
              <a:rPr sz="1200" b="0">
                <a:solidFill>
                  <a:srgbClr val="202833"/>
                </a:solidFill>
              </a:rPr>
              <a:t>MCP Gateway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7EA9AB-0069-4898-9A04-0B81AC9D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409950"/>
            <a:ext cx="4191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833"/>
                </a:solidFill>
              </a:defRPr>
            </a:pPr>
            <a:r>
              <a:rPr sz="1200" b="0">
                <a:solidFill>
                  <a:srgbClr val="202833"/>
                </a:solidFill>
              </a:rPr>
              <a:t>Not currently present.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902CF6-A782-421C-B0C2-2EE0E3B9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409950"/>
            <a:ext cx="44291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833"/>
                </a:solidFill>
              </a:defRPr>
            </a:pPr>
            <a:r>
              <a:rPr sz="1200" b="0">
                <a:solidFill>
                  <a:srgbClr val="202833"/>
                </a:solidFill>
              </a:rPr>
              <a:t>Add /services/afh-ai-mcp-gateway-function-app for protocol, routing, policy, discovery, and audit.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0FCE08-342F-4F2E-9BB2-3CC8F03AE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29100"/>
            <a:ext cx="25241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833"/>
                </a:solidFill>
              </a:defRPr>
            </a:pPr>
            <a:r>
              <a:rPr sz="1200" b="0">
                <a:solidFill>
                  <a:srgbClr val="202833"/>
                </a:solidFill>
              </a:rPr>
              <a:t>DevOps Integration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90EC45-C2AD-4DE9-80F5-F37049F47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4229100"/>
            <a:ext cx="4191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833"/>
                </a:solidFill>
              </a:defRPr>
            </a:pPr>
            <a:r>
              <a:rPr sz="1200" b="0">
                <a:solidFill>
                  <a:srgbClr val="202833"/>
                </a:solidFill>
              </a:rPr>
              <a:t>Not currently present.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64A96C-514E-4C68-B0EC-87E4AC004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4229100"/>
            <a:ext cx="44291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833"/>
                </a:solidFill>
              </a:defRPr>
            </a:pPr>
            <a:r>
              <a:rPr sz="1200" b="0">
                <a:solidFill>
                  <a:srgbClr val="202833"/>
                </a:solidFill>
              </a:rPr>
              <a:t>Add /services/afh-devops-integration-function-app so secrets and workflows live in a runtime service.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0B2E1B-70BE-48CE-A975-1C7226001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0"/>
            <a:ext cx="25241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833"/>
                </a:solidFill>
              </a:defRPr>
            </a:pPr>
            <a:r>
              <a:rPr sz="1200" b="0">
                <a:solidFill>
                  <a:srgbClr val="202833"/>
                </a:solidFill>
              </a:rPr>
              <a:t>SDKs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CE7C4C-57AB-499F-AF72-3D54DEE73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5048250"/>
            <a:ext cx="4191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833"/>
                </a:solidFill>
              </a:defRPr>
            </a:pPr>
            <a:r>
              <a:rPr sz="1200" b="0">
                <a:solidFill>
                  <a:srgbClr val="202833"/>
                </a:solidFill>
              </a:rPr>
              <a:t>Common error, calendar, SharePoint, XPlan, and Speech AI SDKs exist.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93E600-68BD-4096-8778-B8D354924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5048250"/>
            <a:ext cx="44291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833"/>
                </a:solidFill>
              </a:defRPr>
            </a:pPr>
            <a:r>
              <a:rPr sz="1200" b="0">
                <a:solidFill>
                  <a:srgbClr val="202833"/>
                </a:solidFill>
              </a:rPr>
              <a:t>Add AI/MCP contract SDKs only; do not put DevOps secrets or workflows in SDKs.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4F0269-CCAC-46D0-954F-981BB1FBE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AFH AI Platform Architecture Proposal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7B2137-E2EA-4474-ADE2-4B7875E6F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392204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2340D2-DAE4-4756-BF2F-A2D152885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E74B5"/>
                </a:solidFill>
              </a:defRPr>
            </a:pPr>
            <a:r>
              <a:rPr sz="1200" b="1">
                <a:solidFill>
                  <a:srgbClr val="2E74B5"/>
                </a:solidFill>
              </a:rPr>
              <a:t>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637D3E-803E-4729-8D5A-626D34670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047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Direct AI access would duplicate governance and expose too much topology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0AFB2D-6533-4EC8-A230-D389D39CC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E6D536-75A3-41FF-8B11-1A77F41A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24075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E74B5"/>
                </a:solidFill>
              </a:defRPr>
            </a:pPr>
            <a:r>
              <a:rPr sz="1875" b="1">
                <a:solidFill>
                  <a:srgbClr val="2E74B5"/>
                </a:solidFill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A3F208-19AF-4D9A-8ABE-67D589689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14550"/>
            <a:ext cx="9963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2833"/>
                </a:solidFill>
              </a:defRPr>
            </a:pPr>
            <a:r>
              <a:rPr sz="1875" b="0">
                <a:solidFill>
                  <a:srgbClr val="202833"/>
                </a:solidFill>
              </a:rPr>
              <a:t>Every AI client would need to understand every AFH service, endpoint, permission model, and versioning rule.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584DF6-A000-46BA-9FE1-1E1874860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47975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E74B5"/>
                </a:solidFill>
              </a:defRPr>
            </a:pPr>
            <a:r>
              <a:rPr sz="1875" b="1">
                <a:solidFill>
                  <a:srgbClr val="2E74B5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BBC160-76D3-4E32-AE0B-9CEBBC647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38450"/>
            <a:ext cx="9963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2833"/>
                </a:solidFill>
              </a:defRPr>
            </a:pPr>
            <a:r>
              <a:rPr sz="1875" b="0">
                <a:solidFill>
                  <a:srgbClr val="202833"/>
                </a:solidFill>
              </a:rPr>
              <a:t>Authentication, authorization, audit, redaction, throttling, and approvals would be rebuilt in many places.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AF9AA0-9D36-4A97-A1D2-8F00630CA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71875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E74B5"/>
                </a:solidFill>
              </a:defRPr>
            </a:pPr>
            <a:r>
              <a:rPr sz="1875" b="1">
                <a:solidFill>
                  <a:srgbClr val="2E74B5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5DAA9F-51CA-4EA1-9385-9A2A20470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62350"/>
            <a:ext cx="9963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2833"/>
                </a:solidFill>
              </a:defRPr>
            </a:pPr>
            <a:r>
              <a:rPr sz="1875" b="0">
                <a:solidFill>
                  <a:srgbClr val="202833"/>
                </a:solidFill>
              </a:rPr>
              <a:t>DevOps automation and SharePoint requirement analysis have no natural home in the existing domain services.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17ADB7-2B53-4B39-AC70-64C7119CB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95775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E74B5"/>
                </a:solidFill>
              </a:defRPr>
            </a:pPr>
            <a:r>
              <a:rPr sz="1875" b="1">
                <a:solidFill>
                  <a:srgbClr val="2E74B5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E6160D-5A27-4E2C-81AF-9148D9611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86250"/>
            <a:ext cx="9963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2833"/>
                </a:solidFill>
              </a:defRPr>
            </a:pPr>
            <a:r>
              <a:rPr sz="1875" b="0">
                <a:solidFill>
                  <a:srgbClr val="202833"/>
                </a:solidFill>
              </a:rPr>
              <a:t>As service count grows, manual tool registration becomes slow, fragile, and easy to drift.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10E8D5-2998-4BEC-BD6E-0BAEEDE50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AFH AI Platform Architecture Proposal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474118-088D-4F74-BC65-012D8962B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86959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92EAC5-08A3-4959-B21A-CD0542245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E74B5"/>
                </a:solidFill>
              </a:defRPr>
            </a:pPr>
            <a:r>
              <a:rPr sz="1200" b="1">
                <a:solidFill>
                  <a:srgbClr val="2E74B5"/>
                </a:solidFill>
              </a:rPr>
              <a:t>OPTIONS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2AD8A1-02F8-46CE-8AAC-8646916A8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047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Three patterns were considered before recommending the gateway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4838AF-DA99-4DB6-9D53-59C9A55CA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EAF392-2621-458A-85D6-C6E963B6F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833"/>
                </a:solidFill>
              </a:defRPr>
            </a:pPr>
            <a:r>
              <a:rPr sz="1350" b="1">
                <a:solidFill>
                  <a:srgbClr val="202833"/>
                </a:solidFill>
              </a:rPr>
              <a:t>Option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AB56D1-CA7E-4DC8-96CE-4D7E51FD0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095500"/>
            <a:ext cx="400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833"/>
                </a:solidFill>
              </a:defRPr>
            </a:pPr>
            <a:r>
              <a:rPr sz="1350" b="1">
                <a:solidFill>
                  <a:srgbClr val="202833"/>
                </a:solidFill>
              </a:rPr>
              <a:t>Strength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D31694-6C8B-45CE-AC46-C8645DB3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95500"/>
            <a:ext cx="400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833"/>
                </a:solidFill>
              </a:defRPr>
            </a:pPr>
            <a:r>
              <a:rPr sz="1350" b="1">
                <a:solidFill>
                  <a:srgbClr val="202833"/>
                </a:solidFill>
              </a:rPr>
              <a:t>Risk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2D14EF-EFB7-4EF7-96F0-88E7EA968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52700"/>
            <a:ext cx="3143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833"/>
                </a:solidFill>
              </a:defRPr>
            </a:pPr>
            <a:r>
              <a:rPr sz="1200" b="0">
                <a:solidFill>
                  <a:srgbClr val="202833"/>
                </a:solidFill>
              </a:rPr>
              <a:t>Direct MCP providers in every service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9CF39D-2EA6-4833-AD97-7F30D40E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552700"/>
            <a:ext cx="4000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833"/>
                </a:solidFill>
              </a:defRPr>
            </a:pPr>
            <a:r>
              <a:rPr sz="1200" b="0">
                <a:solidFill>
                  <a:srgbClr val="202833"/>
                </a:solidFill>
              </a:rPr>
              <a:t>Maximum service autonomy.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9C142D-56AD-472F-BD16-85E2180CA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552700"/>
            <a:ext cx="4000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833"/>
                </a:solidFill>
              </a:defRPr>
            </a:pPr>
            <a:r>
              <a:rPr sz="1200" b="0">
                <a:solidFill>
                  <a:srgbClr val="202833"/>
                </a:solidFill>
              </a:rPr>
              <a:t>Duplicated policy and fragmented discovery.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F1DD28-8CAA-4E4D-88D9-1420F31C7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0"/>
            <a:ext cx="3143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833"/>
                </a:solidFill>
              </a:defRPr>
            </a:pPr>
            <a:r>
              <a:rPr sz="1200" b="0">
                <a:solidFill>
                  <a:srgbClr val="202833"/>
                </a:solidFill>
              </a:rPr>
              <a:t>Central MCP Gateway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D8E1B7-ADAC-41A4-AC73-01F278F12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619500"/>
            <a:ext cx="4000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833"/>
                </a:solidFill>
              </a:defRPr>
            </a:pPr>
            <a:r>
              <a:rPr sz="1200" b="0">
                <a:solidFill>
                  <a:srgbClr val="202833"/>
                </a:solidFill>
              </a:rPr>
              <a:t>One governed AI entry point with service-owned tools.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19F4B4-4A73-42A4-9A00-4ED7ADD29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619500"/>
            <a:ext cx="4000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833"/>
                </a:solidFill>
              </a:defRPr>
            </a:pPr>
            <a:r>
              <a:rPr sz="1200" b="0">
                <a:solidFill>
                  <a:srgbClr val="202833"/>
                </a:solidFill>
              </a:rPr>
              <a:t>Can become a bottleneck if boundaries are weak.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8F5014-7EF4-4EFC-AD46-3181171A4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86300"/>
            <a:ext cx="3143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833"/>
                </a:solidFill>
              </a:defRPr>
            </a:pPr>
            <a:r>
              <a:rPr sz="1200" b="0">
                <a:solidFill>
                  <a:srgbClr val="202833"/>
                </a:solidFill>
              </a:rPr>
              <a:t>Gateway plus workflow services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F87D8D-D0F6-464F-B82A-8D603827D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686300"/>
            <a:ext cx="4000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833"/>
                </a:solidFill>
              </a:defRPr>
            </a:pPr>
            <a:r>
              <a:rPr sz="1200" b="0">
                <a:solidFill>
                  <a:srgbClr val="202833"/>
                </a:solidFill>
              </a:rPr>
              <a:t>Best long-term fit for durable workflows.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4EEEB1-E1F8-4401-86DF-659AB5B91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686300"/>
            <a:ext cx="4000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833"/>
                </a:solidFill>
              </a:defRPr>
            </a:pPr>
            <a:r>
              <a:rPr sz="1200" b="0">
                <a:solidFill>
                  <a:srgbClr val="202833"/>
                </a:solidFill>
              </a:rPr>
              <a:t>More moving parts and stronger contracts required.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8E0E56-C088-4E69-9F2D-350075633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772150"/>
            <a:ext cx="9753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63D5C"/>
                </a:solidFill>
              </a:defRPr>
            </a:pPr>
            <a:r>
              <a:rPr sz="1800" b="1">
                <a:solidFill>
                  <a:srgbClr val="163D5C"/>
                </a:solidFill>
              </a:rPr>
              <a:t>Proposed path: Option B first, designed to evolve into Option C.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88748C-B628-4ACD-81BA-A3A991677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AFH AI Platform Architecture Proposal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8867DE-0717-46D5-969C-6559786F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282460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61576C-7C5C-4C74-84A8-00C674022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E74B5"/>
                </a:solidFill>
              </a:defRPr>
            </a:pPr>
            <a:r>
              <a:rPr sz="1200" b="1">
                <a:solidFill>
                  <a:srgbClr val="2E74B5"/>
                </a:solidFill>
              </a:rPr>
              <a:t>TARGET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41BE23-7E14-4A41-9CD8-708BF828E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047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The gateway exposes tools; services execute capabilities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39526E-44CC-4070-BB71-696EE2A41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129DF8-6DAC-42E8-972B-BA3D2582D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2571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74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02833"/>
                </a:solidFill>
              </a:defRPr>
            </a:pPr>
            <a:r>
              <a:rPr sz="1500" b="1">
                <a:solidFill>
                  <a:srgbClr val="202833"/>
                </a:solidFill>
              </a:rPr>
              <a:t>AI clients</a:t>
            </a:r>
          </a:p>
          <a:p xmlns:a="http://schemas.openxmlformats.org/drawingml/2006/main">
            <a:pPr algn="ctr">
              <a:defRPr sz="1500" b="1">
                <a:solidFill>
                  <a:srgbClr val="202833"/>
                </a:solidFill>
              </a:defRPr>
            </a:pPr>
            <a:r>
              <a:rPr sz="1500" b="1">
                <a:solidFill>
                  <a:srgbClr val="202833"/>
                </a:solidFill>
              </a:rPr>
              <a:t>Codex | Copilot | ChatGPT | Claude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862AD6-D6C5-4AB9-8243-507516AA5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717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E74B5"/>
                </a:solidFill>
              </a:defRPr>
            </a:pPr>
            <a:r>
              <a:rPr sz="2550" b="1">
                <a:solidFill>
                  <a:srgbClr val="2E74B5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6276DB-3FE1-4984-8B14-8AA731DA2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90750"/>
            <a:ext cx="4000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19050">
            <a:solidFill>
              <a:srgbClr val="2E74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02833"/>
                </a:solidFill>
              </a:defRPr>
            </a:pPr>
            <a:r>
              <a:rPr sz="1650" b="1">
                <a:solidFill>
                  <a:srgbClr val="202833"/>
                </a:solidFill>
              </a:rPr>
              <a:t>AFH MCP Gateway</a:t>
            </a:r>
          </a:p>
          <a:p xmlns:a="http://schemas.openxmlformats.org/drawingml/2006/main">
            <a:pPr algn="ctr">
              <a:defRPr sz="1650" b="1">
                <a:solidFill>
                  <a:srgbClr val="202833"/>
                </a:solidFill>
              </a:defRPr>
            </a:pPr>
            <a:r>
              <a:rPr sz="1650" b="1">
                <a:solidFill>
                  <a:srgbClr val="202833"/>
                </a:solidFill>
              </a:rPr>
              <a:t>protocol | routing | auth | audit | discovery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8966C3-9B17-40B3-A1B6-5F3653B97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833"/>
                </a:solidFill>
              </a:defRPr>
            </a:pPr>
            <a:r>
              <a:rPr sz="1350" b="1">
                <a:solidFill>
                  <a:srgbClr val="202833"/>
                </a:solidFill>
              </a:rPr>
              <a:t>Booking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4AEBBF-C103-41C1-94A3-8162FB6A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77190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B8BCC4"/>
                </a:solidFill>
              </a:defRPr>
            </a:pPr>
            <a:r>
              <a:rPr sz="1950" b="0">
                <a:solidFill>
                  <a:srgbClr val="B8BCC4"/>
                </a:solidFill>
              </a:rPr>
              <a:t>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098140-849D-47FD-80DF-0AA061C83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171950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833"/>
                </a:solidFill>
              </a:defRPr>
            </a:pPr>
            <a:r>
              <a:rPr sz="1350" b="1">
                <a:solidFill>
                  <a:srgbClr val="202833"/>
                </a:solidFill>
              </a:rPr>
              <a:t>Calendar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17AAAE-D177-448C-96D9-DC020C40B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77190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B8BCC4"/>
                </a:solidFill>
              </a:defRPr>
            </a:pPr>
            <a:r>
              <a:rPr sz="1950" b="0">
                <a:solidFill>
                  <a:srgbClr val="B8BCC4"/>
                </a:solidFill>
              </a:rPr>
              <a:t>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462587-F236-4195-92B5-A0090CF9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171950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833"/>
                </a:solidFill>
              </a:defRPr>
            </a:pPr>
            <a:r>
              <a:rPr sz="1350" b="1">
                <a:solidFill>
                  <a:srgbClr val="202833"/>
                </a:solidFill>
              </a:rPr>
              <a:t>Notification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864B9B-1BB7-477F-89F4-72AEBB7E3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377190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B8BCC4"/>
                </a:solidFill>
              </a:defRPr>
            </a:pPr>
            <a:r>
              <a:rPr sz="1950" b="0">
                <a:solidFill>
                  <a:srgbClr val="B8BCC4"/>
                </a:solidFill>
              </a:rPr>
              <a:t>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F27EA9-1097-4330-83AC-C3BB16635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171950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833"/>
                </a:solidFill>
              </a:defRPr>
            </a:pPr>
            <a:r>
              <a:rPr sz="1350" b="1">
                <a:solidFill>
                  <a:srgbClr val="202833"/>
                </a:solidFill>
              </a:rPr>
              <a:t>Location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735A73-C931-4032-AE28-C5427FA3E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77190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B8BCC4"/>
                </a:solidFill>
              </a:defRPr>
            </a:pPr>
            <a:r>
              <a:rPr sz="1950" b="0">
                <a:solidFill>
                  <a:srgbClr val="B8BCC4"/>
                </a:solidFill>
              </a:rPr>
              <a:t>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3D235C-86E1-4748-A8B2-B02F4384B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171950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833"/>
                </a:solidFill>
              </a:defRPr>
            </a:pPr>
            <a:r>
              <a:rPr sz="1350" b="1">
                <a:solidFill>
                  <a:srgbClr val="202833"/>
                </a:solidFill>
              </a:rPr>
              <a:t>Adviser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F0D4FD-3C06-4A73-B908-144918529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77190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B8BCC4"/>
                </a:solidFill>
              </a:defRPr>
            </a:pPr>
            <a:r>
              <a:rPr sz="1950" b="0">
                <a:solidFill>
                  <a:srgbClr val="B8BCC4"/>
                </a:solidFill>
              </a:rPr>
              <a:t>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452E4F-1931-4097-A5C6-8EFB8DC58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91100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833"/>
                </a:solidFill>
              </a:defRPr>
            </a:pPr>
            <a:r>
              <a:rPr sz="1350" b="1">
                <a:solidFill>
                  <a:srgbClr val="202833"/>
                </a:solidFill>
              </a:rPr>
              <a:t>Identity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18B2A0-4E0F-420F-8879-A82ACC7FC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59105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B8BCC4"/>
                </a:solidFill>
              </a:defRPr>
            </a:pPr>
            <a:r>
              <a:rPr sz="1950" b="0">
                <a:solidFill>
                  <a:srgbClr val="B8BCC4"/>
                </a:solidFill>
              </a:rPr>
              <a:t>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C437FB-4971-45CA-81CF-2F66F3CE5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991100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833"/>
                </a:solidFill>
              </a:defRPr>
            </a:pPr>
            <a:r>
              <a:rPr sz="1350" b="1">
                <a:solidFill>
                  <a:srgbClr val="202833"/>
                </a:solidFill>
              </a:rPr>
              <a:t>ACS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47F704-37C2-45A1-874D-73C078C47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59105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B8BCC4"/>
                </a:solidFill>
              </a:defRPr>
            </a:pPr>
            <a:r>
              <a:rPr sz="1950" b="0">
                <a:solidFill>
                  <a:srgbClr val="B8BCC4"/>
                </a:solidFill>
              </a:rPr>
              <a:t>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0793A8-E510-418C-B534-FA467CEC0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991100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833"/>
                </a:solidFill>
              </a:defRPr>
            </a:pPr>
            <a:r>
              <a:rPr sz="1350" b="1">
                <a:solidFill>
                  <a:srgbClr val="202833"/>
                </a:solidFill>
              </a:rPr>
              <a:t>Client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6211B1-245F-42AD-BCE1-A39FB0E0F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459105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B8BCC4"/>
                </a:solidFill>
              </a:defRPr>
            </a:pPr>
            <a:r>
              <a:rPr sz="1950" b="0">
                <a:solidFill>
                  <a:srgbClr val="B8BCC4"/>
                </a:solidFill>
              </a:rPr>
              <a:t>↑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0DD42A-7A1B-4598-AB76-23591D968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991100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833"/>
                </a:solidFill>
              </a:defRPr>
            </a:pPr>
            <a:r>
              <a:rPr sz="1350" b="1">
                <a:solidFill>
                  <a:srgbClr val="202833"/>
                </a:solidFill>
              </a:rPr>
              <a:t>DevOps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90E49A-5CF6-43C2-A9F9-EBFFF2944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59105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B8BCC4"/>
                </a:solidFill>
              </a:defRPr>
            </a:pPr>
            <a:r>
              <a:rPr sz="1950" b="0">
                <a:solidFill>
                  <a:srgbClr val="B8BCC4"/>
                </a:solidFill>
              </a:rPr>
              <a:t>↑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04FBE2-E4EE-4B7C-B1F9-95C71920D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91100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833"/>
                </a:solidFill>
              </a:defRPr>
            </a:pPr>
            <a:r>
              <a:rPr sz="1350" b="1">
                <a:solidFill>
                  <a:srgbClr val="202833"/>
                </a:solidFill>
              </a:rPr>
              <a:t>SharePoint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3E71E1-F18F-4A13-87EB-735343F19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459105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B8BCC4"/>
                </a:solidFill>
              </a:defRPr>
            </a:pPr>
            <a:r>
              <a:rPr sz="1950" b="0">
                <a:solidFill>
                  <a:srgbClr val="B8BCC4"/>
                </a:solidFill>
              </a:rPr>
              <a:t>↑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754F25-5E10-4E20-B205-653953B02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90750"/>
            <a:ext cx="3048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63D5C"/>
                </a:solidFill>
              </a:defRPr>
            </a:pPr>
            <a:r>
              <a:rPr sz="1575" b="1">
                <a:solidFill>
                  <a:srgbClr val="163D5C"/>
                </a:solidFill>
              </a:rPr>
              <a:t>SDKs provide contracts and protocol primitives, not business rules.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AF5BA5-8E59-48E4-860D-C47518577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AFH AI Platform Architecture Proposal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A08969-DF42-4E4E-9BBD-EB776C941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21847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31E056-4B81-4FD3-BBEA-0808DEC21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E74B5"/>
                </a:solidFill>
              </a:defRPr>
            </a:pPr>
            <a:r>
              <a:rPr sz="1200" b="1">
                <a:solidFill>
                  <a:srgbClr val="2E74B5"/>
                </a:solidFill>
              </a:rPr>
              <a:t>ENDPOINT EXAMPLES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B9736D-D749-4D86-899B-6AF21B761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047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AI tools route to service-owned HTTP APIs rather than embedding business logic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263F1F-CB36-4657-B420-2EF1C9062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28856A-E09B-483C-948D-B26A8FEBE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833"/>
                </a:solidFill>
              </a:defRPr>
            </a:pPr>
            <a:r>
              <a:rPr sz="1350" b="1">
                <a:solidFill>
                  <a:srgbClr val="202833"/>
                </a:solidFill>
              </a:rPr>
              <a:t>Tool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6A6397-C3AC-4879-A05B-43990253B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09550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833"/>
                </a:solidFill>
              </a:defRPr>
            </a:pPr>
            <a:r>
              <a:rPr sz="1350" b="1">
                <a:solidFill>
                  <a:srgbClr val="202833"/>
                </a:solidFill>
              </a:rPr>
              <a:t>Service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65E678-A708-4AC6-9C60-03C1B29D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95500"/>
            <a:ext cx="552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833"/>
                </a:solidFill>
              </a:defRPr>
            </a:pPr>
            <a:r>
              <a:rPr sz="1350" b="1">
                <a:solidFill>
                  <a:srgbClr val="202833"/>
                </a:solidFill>
              </a:rPr>
              <a:t>Example downstream endpoint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4F3854-5A6F-4AA5-B8C1-D8FAD680C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5270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833"/>
                </a:solidFill>
              </a:defRPr>
            </a:pPr>
            <a:r>
              <a:rPr sz="1200" b="0">
                <a:solidFill>
                  <a:srgbClr val="202833"/>
                </a:solidFill>
              </a:rPr>
              <a:t>booking.get_lifecycle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578DFA-950A-4997-81F4-0ECE633D7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5527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833"/>
                </a:solidFill>
              </a:defRPr>
            </a:pPr>
            <a:r>
              <a:rPr sz="1200" b="0">
                <a:solidFill>
                  <a:srgbClr val="202833"/>
                </a:solidFill>
              </a:rPr>
              <a:t>Booking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2B9EA0-A02A-4F2E-91AB-2EA396ECB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52700"/>
            <a:ext cx="552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833"/>
                </a:solidFill>
              </a:defRPr>
            </a:pPr>
            <a:r>
              <a:rPr sz="1200" b="0">
                <a:solidFill>
                  <a:srgbClr val="202833"/>
                </a:solidFill>
              </a:rPr>
              <a:t>GET /v1/bookings/{bookingId}/lifecycle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EAA74C-D289-4BBB-86DD-8218158EB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0515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833"/>
                </a:solidFill>
              </a:defRPr>
            </a:pPr>
            <a:r>
              <a:rPr sz="1200" b="0">
                <a:solidFill>
                  <a:srgbClr val="202833"/>
                </a:solidFill>
              </a:rPr>
              <a:t>booking.find_availability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A22C08-F4A0-4218-BC13-7C01CA80C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1051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833"/>
                </a:solidFill>
              </a:defRPr>
            </a:pPr>
            <a:r>
              <a:rPr sz="1200" b="0">
                <a:solidFill>
                  <a:srgbClr val="202833"/>
                </a:solidFill>
              </a:rPr>
              <a:t>Booking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1A0E5C-1C7B-47C1-A146-F1FDEB781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05150"/>
            <a:ext cx="552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833"/>
                </a:solidFill>
              </a:defRPr>
            </a:pPr>
            <a:r>
              <a:rPr sz="1200" b="0">
                <a:solidFill>
                  <a:srgbClr val="202833"/>
                </a:solidFill>
              </a:rPr>
              <a:t>POST /v2/transactions/{transactionId}/availability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AD2340-FBD9-4E8C-AE06-36F675817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5760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833"/>
                </a:solidFill>
              </a:defRPr>
            </a:pPr>
            <a:r>
              <a:rPr sz="1200" b="0">
                <a:solidFill>
                  <a:srgbClr val="202833"/>
                </a:solidFill>
              </a:rPr>
              <a:t>calendar.get_schedule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1C6BD1-F435-4BB6-BCB4-7F650A3C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6576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833"/>
                </a:solidFill>
              </a:defRPr>
            </a:pPr>
            <a:r>
              <a:rPr sz="1200" b="0">
                <a:solidFill>
                  <a:srgbClr val="202833"/>
                </a:solidFill>
              </a:rPr>
              <a:t>Calendar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F69DCB-FFF1-4B55-960D-B352A01A5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57600"/>
            <a:ext cx="552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833"/>
                </a:solidFill>
              </a:defRPr>
            </a:pPr>
            <a:r>
              <a:rPr sz="1200" b="0">
                <a:solidFill>
                  <a:srgbClr val="202833"/>
                </a:solidFill>
              </a:rPr>
              <a:t>GET /v1/calendar/users/{userId}/schedule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52773B-BE06-4527-8F2C-9A2262B6B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1005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833"/>
                </a:solidFill>
              </a:defRPr>
            </a:pPr>
            <a:r>
              <a:rPr sz="1200" b="0">
                <a:solidFill>
                  <a:srgbClr val="202833"/>
                </a:solidFill>
              </a:rPr>
              <a:t>notification.get_request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B24D31-CD10-4BC7-A14B-01DAC60BD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2100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833"/>
                </a:solidFill>
              </a:defRPr>
            </a:pPr>
            <a:r>
              <a:rPr sz="1200" b="0">
                <a:solidFill>
                  <a:srgbClr val="202833"/>
                </a:solidFill>
              </a:rPr>
              <a:t>Notification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093D98-E204-4E6A-A96B-149A2A9BA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210050"/>
            <a:ext cx="552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833"/>
                </a:solidFill>
              </a:defRPr>
            </a:pPr>
            <a:r>
              <a:rPr sz="1200" b="0">
                <a:solidFill>
                  <a:srgbClr val="202833"/>
                </a:solidFill>
              </a:rPr>
              <a:t>GET /v1/notifications/requests/{id}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732779-3CC6-4949-AF65-36BD37304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833"/>
                </a:solidFill>
              </a:defRPr>
            </a:pPr>
            <a:r>
              <a:rPr sz="1200" b="0">
                <a:solidFill>
                  <a:srgbClr val="202833"/>
                </a:solidFill>
              </a:rPr>
              <a:t>location.route_time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E7C262-72B3-46A8-8218-1BE407FB2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7625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833"/>
                </a:solidFill>
              </a:defRPr>
            </a:pPr>
            <a:r>
              <a:rPr sz="1200" b="0">
                <a:solidFill>
                  <a:srgbClr val="202833"/>
                </a:solidFill>
              </a:rPr>
              <a:t>Location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671D2B-8C44-431A-B4BB-FB58C9383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762500"/>
            <a:ext cx="552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833"/>
                </a:solidFill>
              </a:defRPr>
            </a:pPr>
            <a:r>
              <a:rPr sz="1200" b="0">
                <a:solidFill>
                  <a:srgbClr val="202833"/>
                </a:solidFill>
              </a:rPr>
              <a:t>POST /v1/location/route-time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BFF0FA-B27D-4DD5-BACF-B54C7197F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1495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833"/>
                </a:solidFill>
              </a:defRPr>
            </a:pPr>
            <a:r>
              <a:rPr sz="1200" b="0">
                <a:solidFill>
                  <a:srgbClr val="202833"/>
                </a:solidFill>
              </a:rPr>
              <a:t>devops.create_user_story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892CF1-18E4-4B7F-A0DA-E46A5297D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3149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833"/>
                </a:solidFill>
              </a:defRPr>
            </a:pPr>
            <a:r>
              <a:rPr sz="1200" b="0">
                <a:solidFill>
                  <a:srgbClr val="202833"/>
                </a:solidFill>
              </a:rPr>
              <a:t>DevOps Integration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2A7550-17DF-4A9D-9167-D9E8917A9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314950"/>
            <a:ext cx="552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833"/>
                </a:solidFill>
              </a:defRPr>
            </a:pPr>
            <a:r>
              <a:rPr sz="1200" b="0">
                <a:solidFill>
                  <a:srgbClr val="202833"/>
                </a:solidFill>
              </a:rPr>
              <a:t>POST /internal/devops/v1/work-items/user-stories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77920A-E59E-4E7F-A818-1BA330C6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6740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02833"/>
                </a:solidFill>
              </a:defRPr>
            </a:pPr>
            <a:r>
              <a:rPr sz="1500" b="1">
                <a:solidFill>
                  <a:srgbClr val="202833"/>
                </a:solidFill>
              </a:rPr>
              <a:t>Exact route names would be confirmed during implementation against each service contract and security policy.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E5D610-E616-4EE7-815F-34AABC2DA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AFH AI Platform Architecture Proposal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BCD8A1-B222-4BDE-9E8D-0D229E546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549142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81C4F6-127C-4B4C-AF96-7B77E5D75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E74B5"/>
                </a:solidFill>
              </a:defRPr>
            </a:pPr>
            <a:r>
              <a:rPr sz="1200" b="1">
                <a:solidFill>
                  <a:srgbClr val="2E74B5"/>
                </a:solidFill>
              </a:rPr>
              <a:t>INTERNAL COMMUNICATION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06034F-0218-4A83-A6F9-C04E7C4B4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047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HTTP fits the Functions estate; Service Bus fits long-running workflows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7A96EA-FFD9-4BA1-8E1E-F224DC92A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9781C3-A108-47DA-841E-3F5AF2FE1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833"/>
                </a:solidFill>
              </a:defRPr>
            </a:pPr>
            <a:r>
              <a:rPr sz="1350" b="1">
                <a:solidFill>
                  <a:srgbClr val="202833"/>
                </a:solidFill>
              </a:rPr>
              <a:t>Mechanism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C68D5D-109E-4348-92F5-E328C2E6F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038350"/>
            <a:ext cx="4905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833"/>
                </a:solidFill>
              </a:defRPr>
            </a:pPr>
            <a:r>
              <a:rPr sz="1350" b="1">
                <a:solidFill>
                  <a:srgbClr val="202833"/>
                </a:solidFill>
              </a:rPr>
              <a:t>Best use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1312F9-DB53-491A-B8A4-E1CB6A72B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038350"/>
            <a:ext cx="3857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833"/>
                </a:solidFill>
              </a:defRPr>
            </a:pPr>
            <a:r>
              <a:rPr sz="1350" b="1">
                <a:solidFill>
                  <a:srgbClr val="202833"/>
                </a:solidFill>
              </a:rPr>
              <a:t>Decision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BFCE30-8D84-4B84-83A0-6E8DB06B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95550"/>
            <a:ext cx="238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833"/>
                </a:solidFill>
              </a:defRPr>
            </a:pPr>
            <a:r>
              <a:rPr sz="1200" b="0">
                <a:solidFill>
                  <a:srgbClr val="202833"/>
                </a:solidFill>
              </a:rPr>
              <a:t>HTTP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EDC569-075B-46F9-A15A-2DAABEC89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495550"/>
            <a:ext cx="49053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833"/>
                </a:solidFill>
              </a:defRPr>
            </a:pPr>
            <a:r>
              <a:rPr sz="1200" b="0">
                <a:solidFill>
                  <a:srgbClr val="202833"/>
                </a:solidFill>
              </a:rPr>
              <a:t>Synchronous tool calls to existing Function APIs.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769E7F-3B9B-48F2-BB9A-BDFA8C2F4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495550"/>
            <a:ext cx="385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833"/>
                </a:solidFill>
              </a:defRPr>
            </a:pPr>
            <a:r>
              <a:rPr sz="1200" b="0">
                <a:solidFill>
                  <a:srgbClr val="202833"/>
                </a:solidFill>
              </a:rPr>
              <a:t>Default path for MCP Gateway to services.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054787-9A42-4D76-A1C4-D71326778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14700"/>
            <a:ext cx="238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833"/>
                </a:solidFill>
              </a:defRPr>
            </a:pPr>
            <a:r>
              <a:rPr sz="1200" b="0">
                <a:solidFill>
                  <a:srgbClr val="202833"/>
                </a:solidFill>
              </a:rPr>
              <a:t>Azure Service Bus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1DE4BF-ADA5-42FB-87C0-26676BF3D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314700"/>
            <a:ext cx="49053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833"/>
                </a:solidFill>
              </a:defRPr>
            </a:pPr>
            <a:r>
              <a:rPr sz="1200" b="0">
                <a:solidFill>
                  <a:srgbClr val="202833"/>
                </a:solidFill>
              </a:rPr>
              <a:t>Durable commands, retries, fan-out, long-running workflows.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A475DE-7414-4229-A422-871E5E1C5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314700"/>
            <a:ext cx="385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833"/>
                </a:solidFill>
              </a:defRPr>
            </a:pPr>
            <a:r>
              <a:rPr sz="1200" b="0">
                <a:solidFill>
                  <a:srgbClr val="202833"/>
                </a:solidFill>
              </a:rPr>
              <a:t>Proposed for DevOps and document workflows.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C296EF-6257-48B7-AE59-43C32F8D9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33850"/>
            <a:ext cx="238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833"/>
                </a:solidFill>
              </a:defRPr>
            </a:pPr>
            <a:r>
              <a:rPr sz="1200" b="0">
                <a:solidFill>
                  <a:srgbClr val="202833"/>
                </a:solidFill>
              </a:rPr>
              <a:t>gRPC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9363F2-3AF1-49F6-9601-B4D14C7ED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133850"/>
            <a:ext cx="49053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833"/>
                </a:solidFill>
              </a:defRPr>
            </a:pPr>
            <a:r>
              <a:rPr sz="1200" b="0">
                <a:solidFill>
                  <a:srgbClr val="202833"/>
                </a:solidFill>
              </a:rPr>
              <a:t>High-throughput internal APIs.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DCF522-AE8B-4AB2-956F-9E6B54372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133850"/>
            <a:ext cx="385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833"/>
                </a:solidFill>
              </a:defRPr>
            </a:pPr>
            <a:r>
              <a:rPr sz="1200" b="0">
                <a:solidFill>
                  <a:srgbClr val="202833"/>
                </a:solidFill>
              </a:rPr>
              <a:t>Defer unless hosting model changes.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BAF492-C8AD-42FF-AF16-0775ABF2B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0"/>
            <a:ext cx="238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833"/>
                </a:solidFill>
              </a:defRPr>
            </a:pPr>
            <a:r>
              <a:rPr sz="1200" b="0">
                <a:solidFill>
                  <a:srgbClr val="202833"/>
                </a:solidFill>
              </a:rPr>
              <a:t>Direct references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BDAB1C-E308-48F3-90EA-DBE5D773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953000"/>
            <a:ext cx="49053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833"/>
                </a:solidFill>
              </a:defRPr>
            </a:pPr>
            <a:r>
              <a:rPr sz="1200" b="0">
                <a:solidFill>
                  <a:srgbClr val="202833"/>
                </a:solidFill>
              </a:rPr>
              <a:t>Local code reuse.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BF4EEE-7943-4DAE-922C-7B7008357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953000"/>
            <a:ext cx="385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833"/>
                </a:solidFill>
              </a:defRPr>
            </a:pPr>
            <a:r>
              <a:rPr sz="1200" b="0">
                <a:solidFill>
                  <a:srgbClr val="202833"/>
                </a:solidFill>
              </a:rPr>
              <a:t>Not proposed for the gateway.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632EB5-B67F-41D9-879B-95E911B4B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AFH AI Platform Architecture Proposal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4CEF51-32E0-45EF-9486-11B73B994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7793084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5AB89B-8FBF-4D83-B7B2-990661E15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E74B5"/>
                </a:solidFill>
              </a:defRPr>
            </a:pPr>
            <a:r>
              <a:rPr sz="1200" b="1">
                <a:solidFill>
                  <a:srgbClr val="2E74B5"/>
                </a:solidFill>
              </a:rPr>
              <a:t>ORCHESTRATION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DE97EB-B0FB-4109-906E-D1D82BC36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047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The gateway coordinates policy; workflow services own durable orchestration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C4A700-49B4-4183-9B54-83282C0DB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C04D88-0830-4FA3-9BC3-38C26E56B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833"/>
                </a:solidFill>
              </a:defRPr>
            </a:pPr>
            <a:r>
              <a:rPr sz="1800" b="1">
                <a:solidFill>
                  <a:srgbClr val="202833"/>
                </a:solidFill>
              </a:rPr>
              <a:t>Gateway owns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7C6616-9F69-42BD-8B40-0DDEA205C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28925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E74B5"/>
                </a:solidFill>
              </a:defRPr>
            </a:pPr>
            <a:r>
              <a:rPr sz="1500" b="1">
                <a:solidFill>
                  <a:srgbClr val="2E74B5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C7179C-ECC8-4CAF-A1FE-2660BE787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19400"/>
            <a:ext cx="3962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833"/>
                </a:solidFill>
              </a:defRPr>
            </a:pPr>
            <a:r>
              <a:rPr sz="1500" b="0">
                <a:solidFill>
                  <a:srgbClr val="202833"/>
                </a:solidFill>
              </a:rPr>
              <a:t>Tool discovery and schema validation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20ECA9-358D-4225-8A38-0D60091A7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24225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E74B5"/>
                </a:solidFill>
              </a:defRPr>
            </a:pPr>
            <a:r>
              <a:rPr sz="1500" b="1">
                <a:solidFill>
                  <a:srgbClr val="2E74B5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A72107-132E-4335-8E47-9C5EFCBF9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14700"/>
            <a:ext cx="3962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833"/>
                </a:solidFill>
              </a:defRPr>
            </a:pPr>
            <a:r>
              <a:rPr sz="1500" b="0">
                <a:solidFill>
                  <a:srgbClr val="202833"/>
                </a:solidFill>
              </a:rPr>
              <a:t>Authentication and permission checks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3372FC-F41F-4429-8DB8-C479E9E8E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9525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E74B5"/>
                </a:solidFill>
              </a:defRPr>
            </a:pPr>
            <a:r>
              <a:rPr sz="1500" b="1">
                <a:solidFill>
                  <a:srgbClr val="2E74B5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663B8E-6811-4AAB-BBC9-5BB53AE17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10000"/>
            <a:ext cx="3962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833"/>
                </a:solidFill>
              </a:defRPr>
            </a:pPr>
            <a:r>
              <a:rPr sz="1500" b="0">
                <a:solidFill>
                  <a:srgbClr val="202833"/>
                </a:solidFill>
              </a:rPr>
              <a:t>Audit envelope and redaction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E1B3F5-8EDA-43C8-BA76-6863A1A58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14825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E74B5"/>
                </a:solidFill>
              </a:defRPr>
            </a:pPr>
            <a:r>
              <a:rPr sz="1500" b="1">
                <a:solidFill>
                  <a:srgbClr val="2E74B5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C7CEB6-31DA-410B-9CB3-E50517D39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05300"/>
            <a:ext cx="3962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833"/>
                </a:solidFill>
              </a:defRPr>
            </a:pPr>
            <a:r>
              <a:rPr sz="1500" b="0">
                <a:solidFill>
                  <a:srgbClr val="202833"/>
                </a:solidFill>
              </a:rPr>
              <a:t>Thin read aggregation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74EC02-E359-4E64-81E8-D2563FE89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11455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833"/>
                </a:solidFill>
              </a:defRPr>
            </a:pPr>
            <a:r>
              <a:rPr sz="1800" b="1">
                <a:solidFill>
                  <a:srgbClr val="202833"/>
                </a:solidFill>
              </a:rPr>
              <a:t>Workflow services own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C3F0BE-1242-4994-BA4E-01C0D04DB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828925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E74B5"/>
                </a:solidFill>
              </a:defRPr>
            </a:pPr>
            <a:r>
              <a:rPr sz="1500" b="1">
                <a:solidFill>
                  <a:srgbClr val="2E74B5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D42824-96DA-439B-AD9D-EC514AAD4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19400"/>
            <a:ext cx="3962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833"/>
                </a:solidFill>
              </a:defRPr>
            </a:pPr>
            <a:r>
              <a:rPr sz="1500" b="0">
                <a:solidFill>
                  <a:srgbClr val="202833"/>
                </a:solidFill>
              </a:rPr>
              <a:t>Requirement document to work items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C2B637-3D20-4117-98EE-8C391D676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324225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E74B5"/>
                </a:solidFill>
              </a:defRPr>
            </a:pPr>
            <a:r>
              <a:rPr sz="1500" b="1">
                <a:solidFill>
                  <a:srgbClr val="2E74B5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90F7A0-E0F1-4E21-8420-5FEB57C63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14700"/>
            <a:ext cx="3962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833"/>
                </a:solidFill>
              </a:defRPr>
            </a:pPr>
            <a:r>
              <a:rPr sz="1500" b="0">
                <a:solidFill>
                  <a:srgbClr val="202833"/>
                </a:solidFill>
              </a:rPr>
              <a:t>SharePoint document analysis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32A1CD-CE02-418A-A4B9-C2B9109C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819525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E74B5"/>
                </a:solidFill>
              </a:defRPr>
            </a:pPr>
            <a:r>
              <a:rPr sz="1500" b="1">
                <a:solidFill>
                  <a:srgbClr val="2E74B5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395C21-C39D-47C4-94E2-6BDD0521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10000"/>
            <a:ext cx="3962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833"/>
                </a:solidFill>
              </a:defRPr>
            </a:pPr>
            <a:r>
              <a:rPr sz="1500" b="0">
                <a:solidFill>
                  <a:srgbClr val="202833"/>
                </a:solidFill>
              </a:rPr>
              <a:t>Sprint planning and PR linking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D764E7-6607-4159-811E-C0F3A8BC0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314825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E74B5"/>
                </a:solidFill>
              </a:defRPr>
            </a:pPr>
            <a:r>
              <a:rPr sz="1500" b="1">
                <a:solidFill>
                  <a:srgbClr val="2E74B5"/>
                </a:solidFill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403255-DB87-49F9-AA11-FDB7D9A6E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305300"/>
            <a:ext cx="3962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833"/>
                </a:solidFill>
              </a:defRPr>
            </a:pPr>
            <a:r>
              <a:rPr sz="1500" b="0">
                <a:solidFill>
                  <a:srgbClr val="202833"/>
                </a:solidFill>
              </a:rPr>
              <a:t>Production issue investigation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F69BBC-3C12-4F9E-A1DE-D19849F48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76900"/>
            <a:ext cx="10210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FE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Proposed boundary: durable state, retries, approvals, and domain decisions belong outside the gateway.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42EDC7-834E-4969-8E9E-ACD47A637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AFH AI Platform Architecture Proposal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15CB20-6DAA-4556-AD77-BB392A3D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2828119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8B03E1-11BC-4830-AED5-F1AD7AA78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E74B5"/>
                </a:solidFill>
              </a:defRPr>
            </a:pPr>
            <a:r>
              <a:rPr sz="1200" b="1">
                <a:solidFill>
                  <a:srgbClr val="2E74B5"/>
                </a:solidFill>
              </a:rPr>
              <a:t>DEVOPS INTEGRATION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E7F67C-9ECF-4455-B736-D568F6269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047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Azure DevOps automation needs its own service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652B7C-BFA9-43A2-A535-D9F720610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8F29D9-7CD4-44B6-9C90-9A4BB1EDD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02833"/>
                </a:solidFill>
              </a:defRPr>
            </a:pPr>
            <a:r>
              <a:rPr sz="1950" b="0">
                <a:solidFill>
                  <a:srgbClr val="202833"/>
                </a:solidFill>
              </a:rPr>
              <a:t>Proposed location: /services/afh-devops-integration-function-app, exposed through devops.* tools.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ADFEB2-21DD-429C-B711-F17D4E80C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990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833"/>
                </a:solidFill>
              </a:defRPr>
            </a:pPr>
            <a:r>
              <a:rPr sz="1350" b="1">
                <a:solidFill>
                  <a:srgbClr val="202833"/>
                </a:solidFill>
              </a:rPr>
              <a:t>Layer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E32E84-4EC4-4379-A9E9-BF1A85FB1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00990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833"/>
                </a:solidFill>
              </a:defRPr>
            </a:pPr>
            <a:r>
              <a:rPr sz="1350" b="1">
                <a:solidFill>
                  <a:srgbClr val="202833"/>
                </a:solidFill>
              </a:rPr>
              <a:t>Owns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0B0A99-462A-44BE-B42C-AA7E9EAC5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67100"/>
            <a:ext cx="3143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833"/>
                </a:solidFill>
              </a:defRPr>
            </a:pPr>
            <a:r>
              <a:rPr sz="1200" b="0">
                <a:solidFill>
                  <a:srgbClr val="202833"/>
                </a:solidFill>
              </a:rPr>
              <a:t>MCP Gateway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40AC20-F6F6-47D5-AB3F-3F60AF6C7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467100"/>
            <a:ext cx="723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833"/>
                </a:solidFill>
              </a:defRPr>
            </a:pPr>
            <a:r>
              <a:rPr sz="1200" b="0">
                <a:solidFill>
                  <a:srgbClr val="202833"/>
                </a:solidFill>
              </a:rPr>
              <a:t>Tool exposure, AI policy, audit envelope, approval checks.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1B75E0-45E7-44D5-B6DF-3D54E1347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3143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833"/>
                </a:solidFill>
              </a:defRPr>
            </a:pPr>
            <a:r>
              <a:rPr sz="1200" b="0">
                <a:solidFill>
                  <a:srgbClr val="202833"/>
                </a:solidFill>
              </a:rPr>
              <a:t>DevOps Application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448005-C606-4BAC-9697-EBE0D85F5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133850"/>
            <a:ext cx="723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833"/>
                </a:solidFill>
              </a:defRPr>
            </a:pPr>
            <a:r>
              <a:rPr sz="1200" b="0">
                <a:solidFill>
                  <a:srgbClr val="202833"/>
                </a:solidFill>
              </a:rPr>
              <a:t>Create Epics, Features, User Stories, Tasks, updates, sprint reads, implementation plans.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9DA727-34F8-4AF8-9342-8DB9836B7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00600"/>
            <a:ext cx="3143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833"/>
                </a:solidFill>
              </a:defRPr>
            </a:pPr>
            <a:r>
              <a:rPr sz="1200" b="0">
                <a:solidFill>
                  <a:srgbClr val="202833"/>
                </a:solidFill>
              </a:rPr>
              <a:t>DevOps Infrastructure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35B5B3-168C-487C-8821-2C7C119BF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800600"/>
            <a:ext cx="723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833"/>
                </a:solidFill>
              </a:defRPr>
            </a:pPr>
            <a:r>
              <a:rPr sz="1200" b="0">
                <a:solidFill>
                  <a:srgbClr val="202833"/>
                </a:solidFill>
              </a:rPr>
              <a:t>Azure DevOps REST clients, auth, retries, DTO mapping.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D0DF15-D4B8-4592-BC10-1852B4E9C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67350"/>
            <a:ext cx="3143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833"/>
                </a:solidFill>
              </a:defRPr>
            </a:pPr>
            <a:r>
              <a:rPr sz="1200" b="0">
                <a:solidFill>
                  <a:srgbClr val="202833"/>
                </a:solidFill>
              </a:rPr>
              <a:t>Secret boundary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8FBA8D-5771-43A9-8B01-4ABE60D7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467350"/>
            <a:ext cx="723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833"/>
                </a:solidFill>
              </a:defRPr>
            </a:pPr>
            <a:r>
              <a:rPr sz="1200" b="0">
                <a:solidFill>
                  <a:srgbClr val="202833"/>
                </a:solidFill>
              </a:rPr>
              <a:t>Azure DevOps tokens, Key Vault references, managed identity, and audit state stay in the Function App.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980FCD-2512-4DA6-9C20-B16CE8945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AFH AI Platform Architecture Proposal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287865-2493-4EF5-9C09-F2B1DFFB9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3322835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344327-7C4B-4633-9C02-6FAE5E7D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E74B5"/>
                </a:solidFill>
              </a:defRPr>
            </a:pPr>
            <a:r>
              <a:rPr sz="1200" b="1">
                <a:solidFill>
                  <a:srgbClr val="2E74B5"/>
                </a:solidFill>
              </a:rPr>
              <a:t>SDK STRATEGY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FC0CD6-79C6-45A2-B9F2-9496A46A7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047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SDKs support governance; DevOps stays a service because of secrets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0D9DAB-16B3-4E36-B2CB-EEC0E1A98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FC6349-AFCD-4D14-AE8E-52377FEBA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30003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63D5C"/>
                </a:solidFill>
              </a:defRPr>
            </a:pPr>
            <a:r>
              <a:rPr sz="1800" b="1">
                <a:solidFill>
                  <a:srgbClr val="163D5C"/>
                </a:solidFill>
              </a:rPr>
              <a:t>Existing SDKs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847224-54A4-4E4F-AD7C-1F6199E6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14550"/>
            <a:ext cx="695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833"/>
                </a:solidFill>
              </a:defRPr>
            </a:pPr>
            <a:r>
              <a:rPr sz="1725" b="0">
                <a:solidFill>
                  <a:srgbClr val="202833"/>
                </a:solidFill>
              </a:rPr>
              <a:t>error, calendar, SharePoint, XPlan, Speech 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DAE39E-601F-4B17-9409-B1CABC5AF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30003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63D5C"/>
                </a:solidFill>
              </a:defRPr>
            </a:pPr>
            <a:r>
              <a:rPr sz="1800" b="1">
                <a:solidFill>
                  <a:srgbClr val="163D5C"/>
                </a:solidFill>
              </a:rPr>
              <a:t>afh-common-ai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648419-FA5B-4556-A057-FF99E8A9B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28950"/>
            <a:ext cx="695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833"/>
                </a:solidFill>
              </a:defRPr>
            </a:pPr>
            <a:r>
              <a:rPr sz="1725" b="0">
                <a:solidFill>
                  <a:srgbClr val="202833"/>
                </a:solidFill>
              </a:rPr>
              <a:t>tool manifests, actor context, permissions, redaction, audit contracts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25CC7C-049A-4990-AA50-65AA67E7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30003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63D5C"/>
                </a:solidFill>
              </a:defRPr>
            </a:pPr>
            <a:r>
              <a:rPr sz="1800" b="1">
                <a:solidFill>
                  <a:srgbClr val="163D5C"/>
                </a:solidFill>
              </a:rPr>
              <a:t>afh-common-mcp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DABB4D-1FD1-4F95-B559-70012770E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43350"/>
            <a:ext cx="695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833"/>
                </a:solidFill>
              </a:defRPr>
            </a:pPr>
            <a:r>
              <a:rPr sz="1725" b="0">
                <a:solidFill>
                  <a:srgbClr val="202833"/>
                </a:solidFill>
              </a:rPr>
              <a:t>MCP envelopes, discovery client, schema validation helpers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5ED5B6-95CE-49F4-AE62-EB45454A7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81550"/>
            <a:ext cx="30003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63D5C"/>
                </a:solidFill>
              </a:defRPr>
            </a:pPr>
            <a:r>
              <a:rPr sz="1800" b="1">
                <a:solidFill>
                  <a:srgbClr val="163D5C"/>
                </a:solidFill>
              </a:rPr>
              <a:t>DevOps contracts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F1B8B3-C939-40A7-9967-D86DC5B82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57750"/>
            <a:ext cx="695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833"/>
                </a:solidFill>
              </a:defRPr>
            </a:pPr>
            <a:r>
              <a:rPr sz="1725" b="0">
                <a:solidFill>
                  <a:srgbClr val="202833"/>
                </a:solidFill>
              </a:rPr>
              <a:t>optional DTO package only; no secrets, token clients, or workflow execution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644CFE-60F6-4F84-93D8-A6771B5D1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53100"/>
            <a:ext cx="10515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02833"/>
                </a:solidFill>
              </a:defRPr>
            </a:pPr>
            <a:r>
              <a:rPr sz="1650" b="1">
                <a:solidFill>
                  <a:srgbClr val="202833"/>
                </a:solidFill>
              </a:rPr>
              <a:t>Boundary: SDKs provide contracts and infrastructure primitives. They do not own domain workflows.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7A1BB8-4F54-49AA-A502-2B8BE88C8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AFH AI Platform Architecture Proposal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279A6B-245E-46BA-8483-BB42E591E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6322779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504B22-B231-4A9E-9A60-A8D24B7B9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E74B5"/>
                </a:solidFill>
              </a:defRPr>
            </a:pPr>
            <a:r>
              <a:rPr sz="1200" b="1">
                <a:solidFill>
                  <a:srgbClr val="2E74B5"/>
                </a:solidFill>
              </a:rPr>
              <a:t>SECURITY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308F6A-D061-4291-8342-0F8D2BA3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047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Proposal: carry both the human actor and the AI agent identity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A7D9CF-83DD-4D75-AE89-FA99D54B5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67F485-C3A9-48E9-BB7C-BD4FBE95C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19300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833"/>
                </a:solidFill>
              </a:defRPr>
            </a:pPr>
            <a:r>
              <a:rPr sz="1350" b="1">
                <a:solidFill>
                  <a:srgbClr val="202833"/>
                </a:solidFill>
              </a:rPr>
              <a:t>Concern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9B2853-100A-4552-847A-125A7791D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19300"/>
            <a:ext cx="828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833"/>
                </a:solidFill>
              </a:defRPr>
            </a:pPr>
            <a:r>
              <a:rPr sz="1350" b="1">
                <a:solidFill>
                  <a:srgbClr val="202833"/>
                </a:solidFill>
              </a:rPr>
              <a:t>Proposed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D73EA7-5B07-4851-A545-7FD4D88D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0"/>
            <a:ext cx="2857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833"/>
                </a:solidFill>
              </a:defRPr>
            </a:pPr>
            <a:r>
              <a:rPr sz="1200" b="0">
                <a:solidFill>
                  <a:srgbClr val="202833"/>
                </a:solidFill>
              </a:rPr>
              <a:t>Authentication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F31BFF-E3EA-4E28-BFB9-3313D326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76500"/>
            <a:ext cx="8286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833"/>
                </a:solidFill>
              </a:defRPr>
            </a:pPr>
            <a:r>
              <a:rPr sz="1200" b="0">
                <a:solidFill>
                  <a:srgbClr val="202833"/>
                </a:solidFill>
              </a:rPr>
              <a:t>AI clients authenticate at the MCP Gateway using Entra ID where possible.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1EB3BA-F682-43D5-AE9C-994B2A484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00400"/>
            <a:ext cx="2857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833"/>
                </a:solidFill>
              </a:defRPr>
            </a:pPr>
            <a:r>
              <a:rPr sz="1200" b="0">
                <a:solidFill>
                  <a:srgbClr val="202833"/>
                </a:solidFill>
              </a:rPr>
              <a:t>Authorization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22D493-837D-4306-81F0-3366F5683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200400"/>
            <a:ext cx="8286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833"/>
                </a:solidFill>
              </a:defRPr>
            </a:pPr>
            <a:r>
              <a:rPr sz="1200" b="0">
                <a:solidFill>
                  <a:srgbClr val="202833"/>
                </a:solidFill>
              </a:rPr>
              <a:t>Capability permissions such as booking.read, booking.rearrange, and devops.workitem.write.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3C623D-0191-4D7F-81B8-B9606A312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24300"/>
            <a:ext cx="2857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833"/>
                </a:solidFill>
              </a:defRPr>
            </a:pPr>
            <a:r>
              <a:rPr sz="1200" b="0">
                <a:solidFill>
                  <a:srgbClr val="202833"/>
                </a:solidFill>
              </a:rPr>
              <a:t>Propagation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107E7E-8006-4EA5-9053-8607092DB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924300"/>
            <a:ext cx="8286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833"/>
                </a:solidFill>
              </a:defRPr>
            </a:pPr>
            <a:r>
              <a:rPr sz="1200" b="0">
                <a:solidFill>
                  <a:srgbClr val="202833"/>
                </a:solidFill>
              </a:rPr>
              <a:t>Pass actor user, actor email, AI agent, AI session, correlation ID, permission, and approval ID.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2AB59D-22DF-4A09-BF5F-0D5426E51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48200"/>
            <a:ext cx="2857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833"/>
                </a:solidFill>
              </a:defRPr>
            </a:pPr>
            <a:r>
              <a:rPr sz="1200" b="0">
                <a:solidFill>
                  <a:srgbClr val="202833"/>
                </a:solidFill>
              </a:rPr>
              <a:t>Audit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BAF237-F124-4669-8E33-EBB81D27E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648200"/>
            <a:ext cx="8286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833"/>
                </a:solidFill>
              </a:defRPr>
            </a:pPr>
            <a:r>
              <a:rPr sz="1200" b="0">
                <a:solidFill>
                  <a:srgbClr val="202833"/>
                </a:solidFill>
              </a:rPr>
              <a:t>Record tool, side-effect level, request hash, redaction state, target service, result, and latency.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D3E2D7-3955-4619-96DB-B96291DBB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72100"/>
            <a:ext cx="2857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833"/>
                </a:solidFill>
              </a:defRPr>
            </a:pPr>
            <a:r>
              <a:rPr sz="1200" b="0">
                <a:solidFill>
                  <a:srgbClr val="202833"/>
                </a:solidFill>
              </a:rPr>
              <a:t>High-risk tools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09A871-A10B-468B-A579-8C20B8133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372100"/>
            <a:ext cx="8286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833"/>
                </a:solidFill>
              </a:defRPr>
            </a:pPr>
            <a:r>
              <a:rPr sz="1200" b="0">
                <a:solidFill>
                  <a:srgbClr val="202833"/>
                </a:solidFill>
              </a:rPr>
              <a:t>Dry-run, approval, idempotency keys, and stronger audit.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2DD5CA-9407-456A-91CA-E34097769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AFH AI Platform Architecture Proposal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7CD27C-8B52-48CA-B3E3-5798916E6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54992969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BA174F-6726-4556-95D9-58186B160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E74B5"/>
                </a:solidFill>
              </a:defRPr>
            </a:pPr>
            <a:r>
              <a:rPr sz="1200" b="1">
                <a:solidFill>
                  <a:srgbClr val="2E74B5"/>
                </a:solidFill>
              </a:rPr>
              <a:t>TOOL DISCOVERY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1B9442-B968-4FB5-97C5-35F483D87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047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Services publish manifests so the gateway does not need constant edits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C39B84-B634-4B6D-84FD-BB5C8F95D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503375-09B1-4D24-A281-F8DEF8A68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86000"/>
            <a:ext cx="342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63D5C"/>
                </a:solidFill>
              </a:defRPr>
            </a:pPr>
            <a:r>
              <a:rPr sz="1875" b="1">
                <a:solidFill>
                  <a:srgbClr val="163D5C"/>
                </a:solidFill>
              </a:rPr>
              <a:t>internal/ai/tools</a:t>
            </a:r>
          </a:p>
          <a:p xmlns:a="http://schemas.openxmlformats.org/drawingml/2006/main">
            <a:pPr algn="ctr">
              <a:defRPr sz="1875" b="1">
                <a:solidFill>
                  <a:srgbClr val="163D5C"/>
                </a:solidFill>
              </a:defRPr>
            </a:pPr>
            <a:r>
              <a:rPr sz="1875" b="1">
                <a:solidFill>
                  <a:srgbClr val="163D5C"/>
                </a:solidFill>
              </a:rPr>
              <a:t>.well-known/afh-ai-tools.json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639599-91EA-4BF4-B6C5-086E6B3F9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14550"/>
            <a:ext cx="60960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02833"/>
                </a:solidFill>
              </a:defRPr>
            </a:pPr>
            <a:r>
              <a:rPr sz="1950" b="0">
                <a:solidFill>
                  <a:srgbClr val="202833"/>
                </a:solidFill>
              </a:rPr>
              <a:t>Each service publishes tool name, owner, schema, required permission, side-effect level, approval requirement, endpoint mapping, version, and deprecation status.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8180F8-96FC-4CE7-B7C1-697302F5B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33900"/>
            <a:ext cx="9677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02833"/>
                </a:solidFill>
              </a:defRPr>
            </a:pPr>
            <a:r>
              <a:rPr sz="1875" b="1">
                <a:solidFill>
                  <a:srgbClr val="202833"/>
                </a:solidFill>
              </a:rPr>
              <a:t>OpenAPI can bootstrap read-only tools; explicit AI metadata is proposed for mutating tools.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AA741B-3AE9-4958-AAFD-CB6F70C22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AFH AI Platform Architecture Proposal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23BC96-90D9-4604-9006-AC23C8BC8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80395479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F6660C-33C6-4A44-8363-43C667C1B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E74B5"/>
                </a:solidFill>
              </a:defRPr>
            </a:pPr>
            <a:r>
              <a:rPr sz="1200" b="1">
                <a:solidFill>
                  <a:srgbClr val="2E74B5"/>
                </a:solidFill>
              </a:rPr>
              <a:t>GROWTH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7B5AA6-C5C9-4DE4-A618-F97499B7C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047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This scales by keeping ownership distributed and governance centralized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98F90C-321C-482C-B9C0-B09206F5E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62AF1F-0C1D-4C86-B88F-71D1B3322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05025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E74B5"/>
                </a:solidFill>
              </a:defRPr>
            </a:pPr>
            <a:r>
              <a:rPr sz="1800" b="1">
                <a:solidFill>
                  <a:srgbClr val="2E74B5"/>
                </a:solidFill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E3908A-902B-4AA9-8610-0D77750BF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95500"/>
            <a:ext cx="9963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833"/>
                </a:solidFill>
              </a:defRPr>
            </a:pPr>
            <a:r>
              <a:rPr sz="1800" b="0">
                <a:solidFill>
                  <a:srgbClr val="202833"/>
                </a:solidFill>
              </a:rPr>
              <a:t>Initial scope focuses on read-only tools and explicit manifests for existing services.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5A4B4C-AFCA-4FD5-8FD4-27776FD1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E74B5"/>
                </a:solidFill>
              </a:defRPr>
            </a:pPr>
            <a:r>
              <a:rPr sz="1800" b="1">
                <a:solidFill>
                  <a:srgbClr val="2E74B5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DC8D6D-E9F0-42ED-B810-A7EF3B45C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14625"/>
            <a:ext cx="9963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833"/>
                </a:solidFill>
              </a:defRPr>
            </a:pPr>
            <a:r>
              <a:rPr sz="1800" b="0">
                <a:solidFill>
                  <a:srgbClr val="202833"/>
                </a:solidFill>
              </a:rPr>
              <a:t>Mutating tools follow after identity propagation, audit, dry-run, and approval flows are proven.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CEF7F7-36FC-4313-A73C-FC0C80BD7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43275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E74B5"/>
                </a:solidFill>
              </a:defRPr>
            </a:pPr>
            <a:r>
              <a:rPr sz="1800" b="1">
                <a:solidFill>
                  <a:srgbClr val="2E74B5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2DB1E1-B5FF-4430-9CCE-9B641ADC0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33750"/>
            <a:ext cx="9963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833"/>
                </a:solidFill>
              </a:defRPr>
            </a:pPr>
            <a:r>
              <a:rPr sz="1800" b="0">
                <a:solidFill>
                  <a:srgbClr val="202833"/>
                </a:solidFill>
              </a:rPr>
              <a:t>DevOps Integration is proposed as the first workflow-specific service.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3442FC-0529-4280-AC22-F0044A267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624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E74B5"/>
                </a:solidFill>
              </a:defRPr>
            </a:pPr>
            <a:r>
              <a:rPr sz="1800" b="1">
                <a:solidFill>
                  <a:srgbClr val="2E74B5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0843A3-138A-40DE-A322-7D8CCC5D0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52875"/>
            <a:ext cx="9963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833"/>
                </a:solidFill>
              </a:defRPr>
            </a:pPr>
            <a:r>
              <a:rPr sz="1800" b="0">
                <a:solidFill>
                  <a:srgbClr val="202833"/>
                </a:solidFill>
              </a:rPr>
              <a:t>SharePoint or Document Intelligence becomes a later service when requirement analysis becomes substantial.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F34119-35F0-4414-B603-BE06E6F19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81525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E74B5"/>
                </a:solidFill>
              </a:defRPr>
            </a:pPr>
            <a:r>
              <a:rPr sz="1800" b="1">
                <a:solidFill>
                  <a:srgbClr val="2E74B5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722D99-97BA-44C8-82B0-AEE22884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72000"/>
            <a:ext cx="9963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833"/>
                </a:solidFill>
              </a:defRPr>
            </a:pPr>
            <a:r>
              <a:rPr sz="1800" b="0">
                <a:solidFill>
                  <a:srgbClr val="202833"/>
                </a:solidFill>
              </a:rPr>
              <a:t>Separate business, DevOps, or operations MCP gateways remain an option if risk or scale requires it.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8DFA14-B3BB-4B73-AFC2-D1A9F2BAC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AFH AI Platform Architecture Proposal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CA17AC-F55F-4ABA-8767-71FB48C16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1625835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2026-07-06T11:32:30.4170000Z</dcterms:created>
  <dcterms:modified xsi:type="dcterms:W3CDTF">2026-07-06T11:32:30.4170000Z</dcterms:modified>
</coreProperties>
</file>